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font" Target="fonts/ManropeSemiBold-regular.fntdata"/><Relationship Id="rId21" Type="http://schemas.openxmlformats.org/officeDocument/2006/relationships/font" Target="fonts/ManropeSemiBold-bold.fntdata"/><Relationship Id="rId22" Type="http://schemas.openxmlformats.org/officeDocument/2006/relationships/font" Target="fonts/Poppins-regular.fntdata"/><Relationship Id="rId23" Type="http://schemas.openxmlformats.org/officeDocument/2006/relationships/font" Target="fonts/Poppins-bold.fntdata"/><Relationship Id="rId24" Type="http://schemas.openxmlformats.org/officeDocument/2006/relationships/font" Target="fonts/Poppins-italic.fntdata"/><Relationship Id="rId25" Type="http://schemas.openxmlformats.org/officeDocument/2006/relationships/font" Target="fonts/Poppins-boldItalic.fntdata"/><Relationship Id="rId26" Type="http://schemas.openxmlformats.org/officeDocument/2006/relationships/font" Target="fonts/Manrope-regular.fntdata"/><Relationship Id="rId27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365760" y="22860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9900"/>
                </a:solidFill>
                <a:latin typeface="Manrope"/>
              </a:defRPr>
            </a:pPr>
            <a:r>
              <a:t>Prototype Development Submission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29260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32F3E"/>
                </a:solidFill>
                <a:latin typeface="Manrope"/>
              </a:defRPr>
            </a:pPr>
            <a:r>
              <a:t>NidhiAI (निधिAI)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Manrope"/>
              </a:defRPr>
            </a:pPr>
            <a:r>
              <a:t>Team Name: NidhiAI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Manrope"/>
              </a:defRPr>
            </a:pPr>
            <a:r>
              <a:t>Team Leader: Siddhant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3840480"/>
            <a:ext cx="4114800" cy="9144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63440" y="393192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Manrope"/>
              </a:defRPr>
            </a:pPr>
            <a:r>
              <a:t>Problem Statement: Track 03 (AI for Communities)</a:t>
            </a:r>
            <a:br/>
            <a:r>
              <a:t>The 'Last Mile' CSR Funding Gap where grassroots NGOs are locked out of Rs.38K Cr due to paperwork &amp; language barriers.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Brief about the Idea: NidhiAI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1463040"/>
            <a:ext cx="4023360" cy="3291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C81E1E"/>
                </a:solidFill>
                <a:latin typeface="Manrope"/>
              </a:defRPr>
            </a:pPr>
            <a:r>
              <a:t>The Problem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India mandates Rs.38,000 Cr/year in CSR.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90% of funds go to the top elitist NGOs.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3M+ grassroots orgs cannot navigate the legal compliance (12A/80G) or write compelling English proposals.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754880" y="1463040"/>
            <a:ext cx="4023360" cy="3291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EA032"/>
                </a:solidFill>
                <a:latin typeface="Manrope"/>
              </a:defRPr>
            </a:pPr>
            <a:r>
              <a:t>The Proposed Solution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An AI-orchestrated 'Fundraising Officer'.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Upload certs → Textract extracts compliance instantly.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Bedrock KBs structurally map NGO to exact CSR funds.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Claude Proposal agent drafts complete highly-professional proposals automatically.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TextBox 68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Why AI &amp; AWS are Strictly Required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65760" y="1371600"/>
            <a:ext cx="2743200" cy="3383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14630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1. Why AI is Required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12A/80G certs lack APIs; Textract + LLM is the only way to validate.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Generative PDF streaming writes the proposal exactly like a human writer.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Semantic matching is strictly required to tie localized rural activity to broad CSR mandates.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0" y="1371600"/>
            <a:ext cx="2743200" cy="3383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91840" y="14630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2. AWS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Bedrock Supervisor Pattern managing 4 distinct expert agents.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3 Active Knowledge Bases (OpenSearch Serverless).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100% Serverless: Lambda + API GW + DynamoDB + S3.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035040" y="1371600"/>
            <a:ext cx="2743200" cy="33832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1463040"/>
            <a:ext cx="2560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3. Value Added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Unlocks 38,000 crores for grassroot NGOs.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5000x cost reduction for NGOs.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Proposals generated in 20 seconds instead of 1 month.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Live-streaming generation UX builds immense user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List of Features Offered by NidhiAI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137160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Automated Compliance Scanning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Upload 12A/80G PDFs.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Textract extracts expiry dates automatically.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Visual status indicators (Red/Green).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310896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Live-Streaming Proposal Generation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Uses Claude 3.5 via Bedrock + RAG.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You can watch the AI stream the text live into standard A4 visual containers.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Outputs professional 5-page PDFs.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754880" y="137160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Semantic Grant Discovery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Queries against corporate CSR reports.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Uses Titan Embeddings V2.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Generates percentage-based match scores.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0" y="310896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CSR Assistant Helpdesk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Answers complex regulation queries.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Backed by KB of real CSR Laws &amp; FCRA.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Eliminates need for expensive legal consultants.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TextBox 80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Process Flow: Supervisor Orchestration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65760" y="1371600"/>
            <a:ext cx="1371600" cy="914400"/>
          </a:xfrm>
          <a:prstGeom prst="roundRect">
            <a:avLst/>
          </a:prstGeom>
          <a:solidFill>
            <a:srgbClr val="232F3E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nrope"/>
              </a:defRPr>
            </a:pPr>
            <a:r>
              <a:t>NGO</a:t>
            </a:r>
            <a:br/>
            <a:r>
              <a:t>Upload</a:t>
            </a:r>
            <a:br/>
            <a:r>
              <a:t>Docs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2880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Manrope"/>
              </a:defRPr>
            </a:pPr>
            <a:r>
              <a:t>➔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194560" y="1371600"/>
            <a:ext cx="1371600" cy="914400"/>
          </a:xfrm>
          <a:prstGeom prst="roundRect">
            <a:avLst/>
          </a:prstGeom>
          <a:solidFill>
            <a:srgbClr val="00A1C9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94560" y="14630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nrope"/>
              </a:defRPr>
            </a:pPr>
            <a:r>
              <a:t>Textract</a:t>
            </a:r>
            <a:br/>
            <a:r>
              <a:t>Validates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760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Manrope"/>
              </a:defRPr>
            </a:pPr>
            <a:r>
              <a:t>➔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4023360" y="1371600"/>
            <a:ext cx="1463040" cy="914400"/>
          </a:xfrm>
          <a:prstGeom prst="roundRect">
            <a:avLst/>
          </a:prstGeom>
          <a:solidFill>
            <a:srgbClr val="FF9900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023360" y="1463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nrope"/>
              </a:defRPr>
            </a:pPr>
            <a:r>
              <a:t>Bedrock</a:t>
            </a:r>
            <a:br/>
            <a:r>
              <a:t>Matches</a:t>
            </a:r>
            <a:br/>
            <a:r>
              <a:t>Grants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77840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Manrope"/>
              </a:defRPr>
            </a:pPr>
            <a:r>
              <a:t>➔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943600" y="1371600"/>
            <a:ext cx="1463040" cy="914400"/>
          </a:xfrm>
          <a:prstGeom prst="roundRect">
            <a:avLst/>
          </a:prstGeom>
          <a:solidFill>
            <a:srgbClr val="7828A0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43600" y="146304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nrope"/>
              </a:defRPr>
            </a:pPr>
            <a:r>
              <a:t>LLM Drafts</a:t>
            </a:r>
            <a:br/>
            <a:r>
              <a:t>Proposal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98079" y="16459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2222"/>
                </a:solidFill>
                <a:latin typeface="Manrope"/>
              </a:defRPr>
            </a:pPr>
            <a:r>
              <a:t>➔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863840" y="1371600"/>
            <a:ext cx="914400" cy="914400"/>
          </a:xfrm>
          <a:prstGeom prst="roundRect">
            <a:avLst/>
          </a:prstGeom>
          <a:solidFill>
            <a:srgbClr val="28A050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63840" y="14630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nrope"/>
              </a:defRPr>
            </a:pPr>
            <a:r>
              <a:t>Final</a:t>
            </a:r>
            <a:br/>
            <a:r>
              <a:t>PDF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292608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32F3E"/>
                </a:solidFill>
                <a:latin typeface="Manrope"/>
              </a:defRPr>
            </a:pPr>
            <a:r>
              <a:t>The Bedrock Supervisor Pattern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A central 'Manager' agent intelligently delegates tasks to 4 distinct sub-agents.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Allows the system to naturally branch logic without brittle step functions.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Sub-agents: Compliance Agent (GFOH0VN84S), Grant Scout (KRPTCZMV4Z), Proposal Agent (23TIS55Z0P), Impact Agent (PHLYZYB11A).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TextBox 86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Wireframes / Proposed UI Mockups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5760" y="1371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Manrope"/>
              </a:defRPr>
            </a:pPr>
            <a:r>
              <a:t>Initial dashboard flow mockups defining the minimal architecture: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65760" y="1828800"/>
            <a:ext cx="40233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19202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DASHBOARD WIDGETS</a:t>
            </a:r>
            <a:br/>
            <a:r>
              <a:t>• Quick Status (Active, Upload Needed)</a:t>
            </a:r>
            <a:br/>
            <a:r>
              <a:t>• Matched CSR Opportunities list</a:t>
            </a:r>
            <a:br/>
            <a:r>
              <a:t>• Recent Drafts &amp; Proposals</a:t>
            </a:r>
            <a:br/>
            <a:r>
              <a:t>• Generate AI Report Button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54880" y="1828800"/>
            <a:ext cx="40233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46320" y="192024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DOCUMENT MODAL</a:t>
            </a:r>
            <a:br/>
            <a:r>
              <a:t>• Drag and Drop Region</a:t>
            </a:r>
            <a:br/>
            <a:r>
              <a:t>• Parsing Indicator (Textract scanning...)</a:t>
            </a:r>
            <a:br/>
            <a:r>
              <a:t>• Verified Checks: 12A, 80G, FCRA</a:t>
            </a:r>
            <a:br/>
            <a:r>
              <a:t>• Expired Checks Notification 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TextBox 9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Architecture Diagram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" y="137160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F3E"/>
                </a:solidFill>
                <a:latin typeface="Consolas"/>
              </a:defRPr>
            </a:pPr>
            <a:r>
              <a:t>                 [ Next.js React App on Vercel ]</a:t>
            </a:r>
            <a:br/>
            <a:r>
              <a:t>                              ↓</a:t>
            </a:r>
            <a:br/>
            <a:r>
              <a:t>          [ API Gateway + Cognito Authentication ]</a:t>
            </a:r>
            <a:br/>
            <a:r>
              <a:t>                              ↓</a:t>
            </a:r>
            <a:br/>
            <a:r>
              <a:t>  [ Bedrock Supervisor Agent ] ↔ [ Episodic DynamoDB Memory ]</a:t>
            </a:r>
            <a:br/>
            <a:r>
              <a:t>        ↙             ↓             ↘</a:t>
            </a:r>
            <a:br/>
            <a:r>
              <a:t>  [Compliance]    [Grant Scout]    [Proposal Generator]</a:t>
            </a:r>
            <a:br/>
            <a:r>
              <a:t>  + Textract        + Titan V2        + Claude 3.5</a:t>
            </a:r>
            <a:br/>
            <a:r>
              <a:t>  + S3              + OpenSearch      + S3 PDF Bucket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2222"/>
                </a:solidFill>
                <a:latin typeface="Manrope"/>
              </a:defRPr>
            </a:pPr>
            <a:r>
              <a:t>100% Serverless. 12 AWS Services Integrated.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Technologies Utilized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65760" y="1463040"/>
            <a:ext cx="402336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15544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AWS Bedrock &amp; Machine Learning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Bedrock Agents (Supervisor + sub-agents).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Bedrock Knowledge Bases (x3).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Claude 3.5 Sonnet / Titan Text Embeddings V2.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Textract (Native OCR in ap-south-1).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754880" y="1463040"/>
            <a:ext cx="402336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Infrastructure Layer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AWS Lambda (Python 3.12, 4 distinct functions).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OpenSearch Serverless.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API Gateway &amp; Cognito Auth.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Amazon DynamoDB &amp; Amazon S3 (5 buckets).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Next.js Frontend (React 19).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Estimated Cost &amp; Unit Economics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65760" y="1371600"/>
            <a:ext cx="841248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Manrope"/>
              </a:defRPr>
            </a:pPr>
            <a:r>
              <a:t>Unit Economics: Tradtional vs NidhiAI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• Cost Per Proposal: Rs.50,000+ (Human)  →  &lt; Rs.10 (NidhiAI LLM Cost)</a:t>
            </a:r>
            <a:br/>
            <a:r>
              <a:t>• Time Per Grant: 2-4 weeks (Human)     →  18 Seconds (NidhiAI)</a:t>
            </a:r>
            <a:br/>
            <a:r>
              <a:t>• Compliance Check: CA Fees (Rs.5000)   →  Rs.0.50 (Textract API)</a:t>
            </a:r>
            <a:br/>
            <a:r>
              <a:t>• Scalability: 1 human = 1 org          →  1 Agent = 1000s of orgs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" y="3474720"/>
            <a:ext cx="8412480" cy="128016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28B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5A28"/>
                </a:solidFill>
                <a:latin typeface="Manrope"/>
              </a:defRPr>
            </a:pPr>
            <a:r>
              <a:t>Prototype Cost (Zero servers, scale-to-zero model):</a:t>
            </a:r>
            <a:br/>
            <a:r>
              <a:t>Total AWS API usage &lt; Rs.1,000 month at demo scale. 5000x cost reduction per proposal.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TextBox 110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Live View: Watch the AI Write Proposals Live</a:t>
            </a:r>
          </a:p>
        </p:txBody>
      </p:sp>
      <p:pic>
        <p:nvPicPr>
          <p:cNvPr id="112" name="Picture 111" descr="proposals_1772969030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63040"/>
            <a:ext cx="4114800" cy="2211705"/>
          </a:xfrm>
          <a:prstGeom prst="rect">
            <a:avLst/>
          </a:prstGeom>
        </p:spPr>
      </p:pic>
      <p:pic>
        <p:nvPicPr>
          <p:cNvPr id="113" name="Picture 112" descr="compliance_177296888256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63040"/>
            <a:ext cx="4114800" cy="2211705"/>
          </a:xfrm>
          <a:prstGeom prst="rect">
            <a:avLst/>
          </a:prstGeom>
        </p:spPr>
      </p:pic>
      <p:sp>
        <p:nvSpPr>
          <p:cNvPr id="114" name="Rounded Rectangle 113"/>
          <p:cNvSpPr/>
          <p:nvPr/>
        </p:nvSpPr>
        <p:spPr>
          <a:xfrm>
            <a:off x="365760" y="4389120"/>
            <a:ext cx="8412480" cy="4572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2222"/>
                </a:solidFill>
                <a:latin typeface="Manrope"/>
              </a:defRPr>
            </a:pPr>
            <a:r>
              <a:t>Live stream AI writing: Users see the PDF compile in real-time onto an A4 virtual canvas, building immense trust.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Prototype Execution Benchmarks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365760" y="1463040"/>
            <a:ext cx="4023360" cy="3291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System Latency (live in ap-south-1)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Textract doc scan + Bedrock Verification: ~4.5 seconds.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OpenSearch Titan V2 semantic matching: 1.8 seconds.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Full 5-page PDF formulation: ~18 seconds (streamed UX).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Lambda Cold Start Penalty: &lt; 800ms.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754880" y="1463040"/>
            <a:ext cx="4023360" cy="32918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32F3E"/>
                </a:solidFill>
                <a:latin typeface="Manrope"/>
              </a:defRPr>
            </a:pPr>
            <a:r>
              <a:t>System Scale &amp; Reliability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Concurrent user load supported instantaneously via Lambda scalability.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Agent Status: PREPARED.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KB Status: ACTIVE.</a:t>
            </a:r>
          </a:p>
          <a:p>
            <a:pPr>
              <a:spcAft>
                <a:spcPts val="400"/>
              </a:spcAft>
              <a:defRPr sz="1100">
                <a:solidFill>
                  <a:srgbClr val="222222"/>
                </a:solidFill>
                <a:latin typeface="Calibri"/>
              </a:defRPr>
            </a:pPr>
            <a:r>
              <a:t>• 100% resilient via AWS managed-service availability logic.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TextBox 122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Future Development &amp; Bharat Scale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32F3E"/>
                </a:solidFill>
                <a:latin typeface="Manrope"/>
              </a:defRPr>
            </a:pPr>
            <a:r>
              <a:t>Phase 2 &amp; 3 Evolution: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Voice-first Input: Adding Amazon Transcribe. Rural NGO founders can voice-record their project efforts in Hindi, and NidhiAI will directly convert it to formal English proposals.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Automated Deployment via Amazon Q: Utilizing Amazon Q Business internal connections to directly submit written applications securely into corporate CSR portals via APis.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Integration with Government Schemes: Matching data not just for CSR, but for MGNREGA or PM-KISAN schemes seamlessly.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  <a:latin typeface="Calibri"/>
              </a:defRPr>
            </a:pPr>
            <a:r>
              <a:t>• WhatsApp Bot Gateway: Allowing NGO updates via WhatsApp to auto-feed their Impact tracking tables via API Gateway.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TextBox 128"/>
          <p:cNvSpPr txBox="1"/>
          <p:nvPr/>
        </p:nvSpPr>
        <p:spPr>
          <a:xfrm>
            <a:off x="365760" y="8229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32F3E"/>
                </a:solidFill>
                <a:latin typeface="Manrope"/>
              </a:defRPr>
            </a:pPr>
            <a:r>
              <a:t>Prototype Repository &amp; Assets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65760" y="146304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Manrope"/>
              </a:defRPr>
            </a:pPr>
            <a:r>
              <a:t>GitHub Repository: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https://github.com/Sid-V5/NidhiAi</a:t>
            </a:r>
            <a:br/>
            <a:r>
              <a:t>(Public repository with full README and Setup docs)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Manrope"/>
              </a:defRPr>
            </a:pPr>
            <a:r>
              <a:t>Live Application Link: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48640" y="29260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[ Insert Vercel NextJS production link here ]</a:t>
            </a:r>
            <a:br/>
            <a:r>
              <a:t>(Configured against ap-south-1 AWS endpoint)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F3E"/>
                </a:solidFill>
                <a:latin typeface="Manrope"/>
              </a:defRPr>
            </a:pPr>
            <a:r>
              <a:t>Demo Presentation Video: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22222"/>
                </a:solidFill>
                <a:latin typeface="Manrope"/>
              </a:defRPr>
            </a:pPr>
            <a:r>
              <a:t>[ Insert Youtube Link ]</a:t>
            </a:r>
            <a:br/>
            <a:r>
              <a:t>(Recorded strictly matching the 3-minute hackathon limitations)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