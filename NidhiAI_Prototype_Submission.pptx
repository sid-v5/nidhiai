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9933"/>
                </a:solidFill>
                <a:latin typeface="Calibri"/>
              </a:defRPr>
            </a:pPr>
            <a:r>
              <a:t>NidhiAI (निधिAI)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1031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Calibri"/>
              </a:defRPr>
            </a:pPr>
            <a:r>
              <a:t>Prototype Development 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834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D4AA"/>
                </a:solidFill>
                <a:latin typeface="Calibri"/>
              </a:defRPr>
            </a:pPr>
            <a:r>
              <a:t>Unlocking Rs.38,000 Crore of CSR Capital for Bharat's Changemakers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3657600"/>
            <a:ext cx="4876495" cy="27432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Team Name:  NidhiAI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Team Leader:  Siddhant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411480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00D4AA"/>
                </a:solidFill>
                <a:latin typeface="Calibri"/>
              </a:defRPr>
            </a:pPr>
            <a:r>
              <a:t>Problem Statement: Track 03 — AI for Communities</a:t>
            </a:r>
            <a:br/>
            <a:r>
              <a:t>The 'Last Mile' CSR Funding Gap (90% Misallocation)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899AA"/>
                </a:solidFill>
                <a:latin typeface="Calibri"/>
              </a:defRPr>
            </a:pPr>
            <a:r>
              <a:t>AI for Bharat Hackathon 2026  |  Powered by AWS  |  Track 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9933"/>
                </a:solidFill>
                <a:latin typeface="Calibri"/>
              </a:defRPr>
            </a:pPr>
            <a:r>
              <a:t>Brief About 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4444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5486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India's CSR mandate (Section 135): Rs.38,000 Cr/year projected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90% of these funds flow to the top 50 well-resourced NGOs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3 Million+ civil society orgs are locked out of this capital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Triple Barrier: Compliance paperwork + English fluency + Discovery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A village schoolteacher feeding 200 children can't navigate this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CC66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5303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NidhiAI = AI-powered Fundraising Officer for small NGOs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Upload docs &gt; Compliance check &gt; Grant matching &gt; Proposal draft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Uses Amazon Bedrock Multi-Agent Supervisor Pattern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4 specialized agents orchestrated automatically as a team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30-day manual process compressed into a 10-minute automated 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029200"/>
            <a:ext cx="11277295" cy="1097280"/>
          </a:xfrm>
          <a:prstGeom prst="round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1663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9933"/>
                </a:solidFill>
                <a:latin typeface="Calibri"/>
              </a:defRPr>
            </a:pPr>
            <a:r>
              <a:t>38,000 Cr</a:t>
            </a:r>
            <a:br/>
            <a:r>
              <a:t>CSR Market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51663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9933"/>
                </a:solidFill>
                <a:latin typeface="Calibri"/>
              </a:defRPr>
            </a:pPr>
            <a:r>
              <a:t>3 Million+</a:t>
            </a:r>
            <a:br/>
            <a:r>
              <a:t>Registered NGOs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516636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4444"/>
                </a:solidFill>
                <a:latin typeface="Calibri"/>
              </a:defRPr>
            </a:pPr>
            <a:r>
              <a:t>90% Funds</a:t>
            </a:r>
            <a:br/>
            <a:r>
              <a:t>Misallocated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899AA"/>
                </a:solidFill>
                <a:latin typeface="Calibri"/>
              </a:defRPr>
            </a:pPr>
            <a:r>
              <a:t>AI for Bharat Hackathon 2026  |  Powered by AWS  |  Track 03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9933"/>
                </a:solidFill>
                <a:latin typeface="Calibri"/>
              </a:defRPr>
            </a:pPr>
            <a:r>
              <a:t>Why AI is Required + AWS Services in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3474720" cy="4754880"/>
          </a:xfrm>
          <a:prstGeom prst="roundRect">
            <a:avLst/>
          </a:prstGeom>
          <a:solidFill>
            <a:srgbClr val="14243B"/>
          </a:solidFill>
          <a:ln w="1905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9933"/>
                </a:solidFill>
                <a:latin typeface="Calibri"/>
              </a:defRPr>
            </a:pPr>
            <a:r>
              <a:t>Why AI</a:t>
            </a:r>
            <a:br/>
            <a:r>
              <a:t>is Required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2926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Calibri"/>
              </a:defRPr>
            </a:pPr>
            <a:r>
              <a:t>This isn't a CRUD app.</a:t>
            </a:r>
            <a:br/>
            <a:br/>
            <a:r>
              <a:t>12A/80G certs are scanned</a:t>
            </a:r>
            <a:br/>
            <a:r>
              <a:t>PDFs with no API. Only</a:t>
            </a:r>
            <a:br/>
            <a:r>
              <a:t>Textract + an LLM agent</a:t>
            </a:r>
            <a:br/>
            <a:r>
              <a:t>can extract dates reliably.</a:t>
            </a:r>
            <a:br/>
            <a:br/>
            <a:r>
              <a:t>Keyword search can't map</a:t>
            </a:r>
            <a:br/>
            <a:r>
              <a:t>'village water project' to</a:t>
            </a:r>
            <a:br/>
            <a:r>
              <a:t>'Schedule VII Rural Infra'.</a:t>
            </a:r>
            <a:br/>
            <a:r>
              <a:t>Semantic embeddings are</a:t>
            </a:r>
            <a:br/>
            <a:r>
              <a:t>strictly required.</a:t>
            </a:r>
            <a:br/>
            <a:br/>
            <a:r>
              <a:t>NGOs can't afford Rs.50K</a:t>
            </a:r>
            <a:br/>
            <a:r>
              <a:t>grant writers. Claude does</a:t>
            </a:r>
            <a:br/>
            <a:r>
              <a:t>it in 18 seconds.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188720"/>
            <a:ext cx="3474720" cy="4754880"/>
          </a:xfrm>
          <a:prstGeom prst="roundRect">
            <a:avLst/>
          </a:prstGeom>
          <a:solidFill>
            <a:srgbClr val="14243B"/>
          </a:solidFill>
          <a:ln w="1905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325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9933"/>
                </a:solidFill>
                <a:latin typeface="Calibri"/>
              </a:defRPr>
            </a:pPr>
            <a:r>
              <a:t>How AWS Services</a:t>
            </a:r>
            <a:br/>
            <a:r>
              <a:t>Are Used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2926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Calibri"/>
              </a:defRPr>
            </a:pPr>
            <a:r>
              <a:t>Bedrock Agents: 5 agents</a:t>
            </a:r>
            <a:br/>
            <a:r>
              <a:t>(1 Supervisor + 4 sub-agents)</a:t>
            </a:r>
            <a:br/>
            <a:br/>
            <a:r>
              <a:t>Bedrock KBs: 3 knowledge</a:t>
            </a:r>
            <a:br/>
            <a:r>
              <a:t>bases on OpenSearch Serverless</a:t>
            </a:r>
            <a:br/>
            <a:br/>
            <a:r>
              <a:t>Titan Embeddings V2 for</a:t>
            </a:r>
            <a:br/>
            <a:r>
              <a:t>vector search across KBs</a:t>
            </a:r>
            <a:br/>
            <a:br/>
            <a:r>
              <a:t>Textract: Document OCR</a:t>
            </a:r>
            <a:br/>
            <a:r>
              <a:t>on legal certificates</a:t>
            </a:r>
            <a:br/>
            <a:br/>
            <a:r>
              <a:t>Lambda x4: Serverless</a:t>
            </a:r>
            <a:br/>
            <a:r>
              <a:t>compute for each action</a:t>
            </a:r>
            <a:br/>
            <a:br/>
            <a:r>
              <a:t>S3 x5 + DynamoDB x4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188720"/>
            <a:ext cx="3474720" cy="4754880"/>
          </a:xfrm>
          <a:prstGeom prst="roundRect">
            <a:avLst/>
          </a:prstGeom>
          <a:solidFill>
            <a:srgbClr val="14243B"/>
          </a:solidFill>
          <a:ln w="1905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325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9933"/>
                </a:solidFill>
                <a:latin typeface="Calibri"/>
              </a:defRPr>
            </a:pPr>
            <a:r>
              <a:t>What Value</a:t>
            </a:r>
            <a:br/>
            <a:r>
              <a:t>AI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194560"/>
            <a:ext cx="2926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Calibri"/>
              </a:defRPr>
            </a:pPr>
            <a:r>
              <a:t>Without AI:</a:t>
            </a:r>
            <a:br/>
            <a:r>
              <a:t>  30 days, Rs.50K per proposal</a:t>
            </a:r>
            <a:br/>
            <a:r>
              <a:t>  Manual search across websites</a:t>
            </a:r>
            <a:br/>
            <a:r>
              <a:t>  CA fee for compliance check</a:t>
            </a:r>
            <a:br/>
            <a:br/>
            <a:r>
              <a:t>With NidhiAI:</a:t>
            </a:r>
            <a:br/>
            <a:r>
              <a:t>  10 minutes, Rs.10 per proposal</a:t>
            </a:r>
            <a:br/>
            <a:r>
              <a:t>  AI-matched across 5+ corps</a:t>
            </a:r>
            <a:br/>
            <a:r>
              <a:t>  Instant automated validation</a:t>
            </a:r>
            <a:br/>
            <a:br/>
            <a:r>
              <a:t>5000x cost reduction.</a:t>
            </a:r>
            <a:br/>
            <a:r>
              <a:t>200x faster delivery.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899AA"/>
                </a:solidFill>
                <a:latin typeface="Calibri"/>
              </a:defRPr>
            </a:pPr>
            <a:r>
              <a:t>AI for Bharat Hackathon 2026  |  Powered by AWS  |  Track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9933"/>
                </a:solidFill>
                <a:latin typeface="Calibri"/>
              </a:defRPr>
            </a:pPr>
            <a:r>
              <a:t>Key Features of the Prototype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88720"/>
            <a:ext cx="3566160" cy="2377440"/>
          </a:xfrm>
          <a:prstGeom prst="round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73152" cy="2377440"/>
          </a:xfrm>
          <a:prstGeom prst="rect">
            <a:avLst/>
          </a:prstGeom>
          <a:solidFill>
            <a:srgbClr val="448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488FF"/>
                </a:solidFill>
                <a:latin typeface="Calibri"/>
              </a:defRPr>
            </a:pPr>
            <a:r>
              <a:t>Compliance Scanner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Calibri"/>
              </a:defRPr>
            </a:pPr>
            <a:r>
              <a:t>Upload 12A, 80G, CSR-1 certs.</a:t>
            </a:r>
            <a:br/>
            <a:r>
              <a:t>Textract scans, Bedrock validates.</a:t>
            </a:r>
            <a:br/>
            <a:r>
              <a:t>Instant red/green status.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188720"/>
            <a:ext cx="3566160" cy="2377440"/>
          </a:xfrm>
          <a:prstGeom prst="round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188720"/>
            <a:ext cx="73152" cy="2377440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3716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933"/>
                </a:solidFill>
                <a:latin typeface="Calibri"/>
              </a:defRPr>
            </a:pPr>
            <a:r>
              <a:t>AI Grant Discovery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82880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Calibri"/>
              </a:defRPr>
            </a:pPr>
            <a:r>
              <a:t>Semantic search across 5 corporate</a:t>
            </a:r>
            <a:br/>
            <a:r>
              <a:t>CSR programs. Ranked matches</a:t>
            </a:r>
            <a:br/>
            <a:r>
              <a:t>with relevance scores (93%, 88%).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188720"/>
            <a:ext cx="3566160" cy="2377440"/>
          </a:xfrm>
          <a:prstGeom prst="round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188720"/>
            <a:ext cx="73152" cy="2377440"/>
          </a:xfrm>
          <a:prstGeom prst="rect">
            <a:avLst/>
          </a:prstGeom>
          <a:solidFill>
            <a:srgbClr val="AA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13716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A44FF"/>
                </a:solidFill>
                <a:latin typeface="Calibri"/>
              </a:defRPr>
            </a:pPr>
            <a:r>
              <a:t>Proposal Generator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182880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Calibri"/>
              </a:defRPr>
            </a:pPr>
            <a:r>
              <a:t>One-click formal 5-page proposals</a:t>
            </a:r>
            <a:br/>
            <a:r>
              <a:t>tailored to each grant's criteria.</a:t>
            </a:r>
            <a:br/>
            <a:r>
              <a:t>PDF output ready to send.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931920"/>
            <a:ext cx="3566160" cy="2377440"/>
          </a:xfrm>
          <a:prstGeom prst="round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3931920"/>
            <a:ext cx="73152" cy="2377440"/>
          </a:xfrm>
          <a:prstGeom prst="rect">
            <a:avLst/>
          </a:prstGeom>
          <a:solidFill>
            <a:srgbClr val="00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1148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CC66"/>
                </a:solidFill>
                <a:latin typeface="Calibri"/>
              </a:defRPr>
            </a:pPr>
            <a:r>
              <a:t>Impact Reports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7200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Calibri"/>
              </a:defRPr>
            </a:pPr>
            <a:r>
              <a:t>Auto-generates quarterly reports</a:t>
            </a:r>
            <a:br/>
            <a:r>
              <a:t>with AI-computed metrics from</a:t>
            </a:r>
            <a:br/>
            <a:r>
              <a:t>platform activity data.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0" y="3931920"/>
            <a:ext cx="3566160" cy="2377440"/>
          </a:xfrm>
          <a:prstGeom prst="round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97680" y="3931920"/>
            <a:ext cx="73152" cy="237744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41148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D4AA"/>
                </a:solidFill>
                <a:latin typeface="Calibri"/>
              </a:defRPr>
            </a:pPr>
            <a:r>
              <a:t>CSR Assistant Chatbot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57200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Calibri"/>
              </a:defRPr>
            </a:pPr>
            <a:r>
              <a:t>Knowledge Base of Indian CSR laws</a:t>
            </a:r>
            <a:br/>
            <a:r>
              <a:t>(Section 135, Schedule VII, FCRA).</a:t>
            </a:r>
            <a:br/>
            <a:r>
              <a:t>Answers regulatory questions.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3931920"/>
            <a:ext cx="3566160" cy="2377440"/>
          </a:xfrm>
          <a:prstGeom prst="round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0" y="3931920"/>
            <a:ext cx="73152" cy="2377440"/>
          </a:xfrm>
          <a:prstGeom prst="rect">
            <a:avLst/>
          </a:prstGeom>
          <a:solidFill>
            <a:srgbClr val="FF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0" y="41148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6699"/>
                </a:solidFill>
                <a:latin typeface="Calibri"/>
              </a:defRPr>
            </a:pPr>
            <a:r>
              <a:t>Agent Trace Panel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457200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CCCCC"/>
                </a:solidFill>
                <a:latin typeface="Calibri"/>
              </a:defRPr>
            </a:pPr>
            <a:r>
              <a:t>See the Supervisor's thinking live.</a:t>
            </a:r>
            <a:br/>
            <a:r>
              <a:t>Shows which sub-agent was called,</a:t>
            </a:r>
            <a:br/>
            <a:r>
              <a:t>what data was retrieved.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899AA"/>
                </a:solidFill>
                <a:latin typeface="Calibri"/>
              </a:defRPr>
            </a:pPr>
            <a:r>
              <a:t>AI for Bharat Hackathon 2026  |  Powered by AWS  |  Track 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9933"/>
                </a:solidFill>
                <a:latin typeface="Calibri"/>
              </a:defRPr>
            </a:pPr>
            <a:r>
              <a:t>Process Flow: End-to-End User Journey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6567" y="1828800"/>
            <a:ext cx="1828800" cy="164592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👤 NGO Leader</a:t>
            </a:r>
            <a:br/>
            <a:r>
              <a:t>Uploads Docs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301087" y="2423160"/>
            <a:ext cx="457200" cy="457200"/>
          </a:xfrm>
          <a:prstGeom prst="rightArrow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04007" y="1828800"/>
            <a:ext cx="1828800" cy="1645920"/>
          </a:xfrm>
          <a:prstGeom prst="roundRect">
            <a:avLst/>
          </a:prstGeom>
          <a:solidFill>
            <a:srgbClr val="448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⚖️ Compliance</a:t>
            </a:r>
            <a:br/>
            <a:r>
              <a:t>Agent Scans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678527" y="2423160"/>
            <a:ext cx="457200" cy="457200"/>
          </a:xfrm>
          <a:prstGeom prst="rightArrow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81447" y="1828800"/>
            <a:ext cx="1828800" cy="1645920"/>
          </a:xfrm>
          <a:prstGeom prst="round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🔍 Scout Agent</a:t>
            </a:r>
            <a:br/>
            <a:r>
              <a:t>Finds Grants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55967" y="2423160"/>
            <a:ext cx="457200" cy="457200"/>
          </a:xfrm>
          <a:prstGeom prst="rightArrow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558887" y="1828800"/>
            <a:ext cx="1828800" cy="1645920"/>
          </a:xfrm>
          <a:prstGeom prst="roundRect">
            <a:avLst/>
          </a:prstGeom>
          <a:solidFill>
            <a:srgbClr val="AA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📝 Proposal Agent</a:t>
            </a:r>
            <a:br/>
            <a:r>
              <a:t>Writes PDF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433407" y="2423160"/>
            <a:ext cx="457200" cy="457200"/>
          </a:xfrm>
          <a:prstGeom prst="rightArrow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936327" y="1828800"/>
            <a:ext cx="1828800" cy="1645920"/>
          </a:xfrm>
          <a:prstGeom prst="roundRect">
            <a:avLst/>
          </a:prstGeom>
          <a:solidFill>
            <a:srgbClr val="00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📄 NGO Gets</a:t>
            </a:r>
            <a:br/>
            <a:r>
              <a:t>Ready Proposal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3931920"/>
            <a:ext cx="6705295" cy="640080"/>
          </a:xfrm>
          <a:prstGeom prst="roundRect">
            <a:avLst/>
          </a:prstGeom>
          <a:solidFill>
            <a:srgbClr val="14243B"/>
          </a:solidFill>
          <a:ln w="19050"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9933"/>
                </a:solidFill>
              </a:defRPr>
            </a:pPr>
            <a:r>
              <a:t>🤖 Orchestrated by SUPERVISOR AGENT (Bedrock Supervisor Pattern)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8463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9933"/>
                </a:solidFill>
                <a:latin typeface="Calibri"/>
              </a:defRPr>
            </a:pPr>
            <a:r>
              <a:t>Compliance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1206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899AA"/>
                </a:solidFill>
                <a:latin typeface="Calibri"/>
              </a:defRPr>
            </a:pPr>
            <a:r>
              <a:t>ID: GFOH0VN84S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20" y="48463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9933"/>
                </a:solidFill>
                <a:latin typeface="Calibri"/>
              </a:defRPr>
            </a:pPr>
            <a:r>
              <a:t>Grant Scout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51206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899AA"/>
                </a:solidFill>
                <a:latin typeface="Calibri"/>
              </a:defRPr>
            </a:pPr>
            <a:r>
              <a:t>ID: KRPTCZMV4Z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48463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9933"/>
                </a:solidFill>
                <a:latin typeface="Calibri"/>
              </a:defRPr>
            </a:pPr>
            <a:r>
              <a:t>Proposal 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51206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899AA"/>
                </a:solidFill>
                <a:latin typeface="Calibri"/>
              </a:defRPr>
            </a:pPr>
            <a:r>
              <a:t>ID: 23TIS55Z0P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59" y="48463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9933"/>
                </a:solidFill>
                <a:latin typeface="Calibri"/>
              </a:defRPr>
            </a:pPr>
            <a:r>
              <a:t>Impact 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2359" y="51206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899AA"/>
                </a:solidFill>
                <a:latin typeface="Calibri"/>
              </a:defRPr>
            </a:pPr>
            <a:r>
              <a:t>ID: PHLYZYB11A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48463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9933"/>
                </a:solidFill>
                <a:latin typeface="Calibri"/>
              </a:defRPr>
            </a:pPr>
            <a:r>
              <a:t>Supervisor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51206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899AA"/>
                </a:solidFill>
                <a:latin typeface="Calibri"/>
              </a:defRPr>
            </a:pPr>
            <a:r>
              <a:t>ID: HB82HPMIA3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669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D4AA"/>
                </a:solidFill>
                <a:latin typeface="Calibri"/>
              </a:defRPr>
            </a:pPr>
            <a:r>
              <a:t>All 5 agents status: PREPARED  |  Region: ap-south-1 (Mumbai)  |  100% Serverless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899AA"/>
                </a:solidFill>
                <a:latin typeface="Calibri"/>
              </a:defRPr>
            </a:pPr>
            <a:r>
              <a:t>AI for Bharat Hackathon 2026  |  Powered by AWS  |  Track 03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9933"/>
                </a:solidFill>
                <a:latin typeface="Calibri"/>
              </a:defRPr>
            </a:pPr>
            <a:r>
              <a:t>Wireframes / Screenshots of the Working Prototype</a:t>
            </a:r>
          </a:p>
        </p:txBody>
      </p:sp>
      <p:pic>
        <p:nvPicPr>
          <p:cNvPr id="4" name="Picture 3" descr="dashboard_17729688717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3474720"/>
          </a:xfrm>
          <a:prstGeom prst="rect">
            <a:avLst/>
          </a:prstGeom>
        </p:spPr>
      </p:pic>
      <p:pic>
        <p:nvPicPr>
          <p:cNvPr id="5" name="Picture 4" descr="grants_17729690056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760720" cy="3474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466344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899AA"/>
                </a:solidFill>
                <a:latin typeface="Calibri"/>
              </a:defRPr>
            </a:pPr>
            <a:r>
              <a:t>Dashboard — Live stats, compliance status, quick actions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466344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899AA"/>
                </a:solidFill>
                <a:latin typeface="Calibri"/>
              </a:defRPr>
            </a:pPr>
            <a:r>
              <a:t>Grant Discovery — AI-matched CSR opportunities with scores</a:t>
            </a:r>
          </a:p>
        </p:txBody>
      </p:sp>
      <p:pic>
        <p:nvPicPr>
          <p:cNvPr id="8" name="Picture 7" descr="compliance_177296888256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5120640"/>
            <a:ext cx="3749039" cy="1554480"/>
          </a:xfrm>
          <a:prstGeom prst="rect">
            <a:avLst/>
          </a:prstGeom>
        </p:spPr>
      </p:pic>
      <p:pic>
        <p:nvPicPr>
          <p:cNvPr id="9" name="Picture 8" descr="proposals_17729690300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6240" y="5120640"/>
            <a:ext cx="3749039" cy="15544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899AA"/>
                </a:solidFill>
                <a:latin typeface="Calibri"/>
              </a:defRPr>
            </a:pPr>
            <a:r>
              <a:t>All screenshots from the LIVE running prototype on localhost:3000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9933"/>
                </a:solidFill>
                <a:latin typeface="Calibri"/>
              </a:defRPr>
            </a:pPr>
            <a:r>
              <a:t>Architecture Diagram: AWS Services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188720"/>
            <a:ext cx="2286000" cy="82296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NGO User</a:t>
            </a:r>
            <a:br/>
            <a:r>
              <a:t>(Next.js Dashboard)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1188720"/>
            <a:ext cx="2286000" cy="822960"/>
          </a:xfrm>
          <a:prstGeom prst="roundRect">
            <a:avLst/>
          </a:prstGeom>
          <a:solidFill>
            <a:srgbClr val="4466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API Gateway</a:t>
            </a:r>
            <a:br/>
            <a:r>
              <a:t>+ Cognito Auth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77840" y="1188720"/>
            <a:ext cx="2286000" cy="822960"/>
          </a:xfrm>
          <a:prstGeom prst="roundRect">
            <a:avLst/>
          </a:prstGeom>
          <a:solidFill>
            <a:srgbClr val="22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Amazon S3</a:t>
            </a:r>
            <a:br/>
            <a:r>
              <a:t>(5 Buckets)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6080" y="2377440"/>
            <a:ext cx="5029200" cy="914400"/>
          </a:xfrm>
          <a:prstGeom prst="round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BEDROCK SUPERVISOR AGENT (HB82HPMIA3)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3749039"/>
            <a:ext cx="2560320" cy="822960"/>
          </a:xfrm>
          <a:prstGeom prst="roundRect">
            <a:avLst/>
          </a:prstGeom>
          <a:solidFill>
            <a:srgbClr val="448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Compliance</a:t>
            </a:r>
            <a:br/>
            <a:r>
              <a:t>(GFOH0VN)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3749039"/>
            <a:ext cx="2560320" cy="822960"/>
          </a:xfrm>
          <a:prstGeom prst="roundRect">
            <a:avLst/>
          </a:prstGeom>
          <a:solidFill>
            <a:srgbClr val="FF8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Grant Scout</a:t>
            </a:r>
            <a:br/>
            <a:r>
              <a:t>(KRPTCZMV)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3749039"/>
            <a:ext cx="2560320" cy="822960"/>
          </a:xfrm>
          <a:prstGeom prst="roundRect">
            <a:avLst/>
          </a:prstGeom>
          <a:solidFill>
            <a:srgbClr val="AA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Proposal</a:t>
            </a:r>
            <a:br/>
            <a:r>
              <a:t>(23TIS55Z)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3749039"/>
            <a:ext cx="2560320" cy="822960"/>
          </a:xfrm>
          <a:prstGeom prst="roundRect">
            <a:avLst/>
          </a:prstGeom>
          <a:solidFill>
            <a:srgbClr val="00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Impact</a:t>
            </a:r>
            <a:br/>
            <a:r>
              <a:t>(PHLYZYB1)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0" y="1188720"/>
            <a:ext cx="3200400" cy="640080"/>
          </a:xfrm>
          <a:prstGeom prst="roundRect">
            <a:avLst/>
          </a:prstGeom>
          <a:solidFill>
            <a:srgbClr val="22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Amazon Textract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0" y="1965960"/>
            <a:ext cx="3200400" cy="640080"/>
          </a:xfrm>
          <a:prstGeom prst="roundRect">
            <a:avLst/>
          </a:prstGeom>
          <a:solidFill>
            <a:srgbClr val="22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KB: CSR Laws (WUIYUPN7I2)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2743200"/>
            <a:ext cx="3200400" cy="640080"/>
          </a:xfrm>
          <a:prstGeom prst="roundRect">
            <a:avLst/>
          </a:prstGeom>
          <a:solidFill>
            <a:srgbClr val="22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KB: CSR Opps (UMGDGC60BJ)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0" y="3520439"/>
            <a:ext cx="3200400" cy="640080"/>
          </a:xfrm>
          <a:prstGeom prst="roundRect">
            <a:avLst/>
          </a:prstGeom>
          <a:solidFill>
            <a:srgbClr val="22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KB: Proposals (GXLH46FI6K)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4937760"/>
            <a:ext cx="2560320" cy="502920"/>
          </a:xfrm>
          <a:prstGeom prst="roundRect">
            <a:avLst/>
          </a:prstGeom>
          <a:solidFill>
            <a:srgbClr val="22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Lambda: nidhiai-scan-documents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0" y="4937760"/>
            <a:ext cx="2560320" cy="502920"/>
          </a:xfrm>
          <a:prstGeom prst="roundRect">
            <a:avLst/>
          </a:prstGeom>
          <a:solidFill>
            <a:srgbClr val="22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Lambda: nidhiai-match-grants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4937760"/>
            <a:ext cx="2560320" cy="502920"/>
          </a:xfrm>
          <a:prstGeom prst="roundRect">
            <a:avLst/>
          </a:prstGeom>
          <a:solidFill>
            <a:srgbClr val="22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Lambda: nidhiai-generate-pdf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60" y="4937760"/>
            <a:ext cx="2560320" cy="502920"/>
          </a:xfrm>
          <a:prstGeom prst="roundRect">
            <a:avLst/>
          </a:prstGeom>
          <a:solidFill>
            <a:srgbClr val="22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Lambda: nidhiai-generate-report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26080" y="5577840"/>
            <a:ext cx="3200400" cy="502920"/>
          </a:xfrm>
          <a:prstGeom prst="roundRect">
            <a:avLst/>
          </a:prstGeom>
          <a:solidFill>
            <a:srgbClr val="22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Amazon DynamoDB (4 tables)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5577840"/>
            <a:ext cx="3200400" cy="502920"/>
          </a:xfrm>
          <a:prstGeom prst="roundRect">
            <a:avLst/>
          </a:prstGeom>
          <a:solidFill>
            <a:srgbClr val="22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OpenSearch Serverless (Vector DB)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217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899AA"/>
                </a:solidFill>
                <a:latin typeface="Calibri"/>
              </a:defRPr>
            </a:pPr>
            <a:r>
              <a:t>All services in ap-south-1 (Mumbai)  |  100% Serverless  |  12 AWS Services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9933"/>
                </a:solidFill>
                <a:latin typeface="Calibri"/>
              </a:defRPr>
            </a:pPr>
            <a:r>
              <a:t>Technologies Utilized in the 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2468880"/>
          </a:xfrm>
          <a:prstGeom prst="roundRect">
            <a:avLst/>
          </a:prstGeom>
          <a:solidFill>
            <a:srgbClr val="14243B"/>
          </a:solidFill>
          <a:ln w="1905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933"/>
                </a:solidFill>
                <a:latin typeface="Calibri"/>
              </a:defRPr>
            </a:pPr>
            <a:r>
              <a:t>AI &amp; ML 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  Amazon Bedrock Agents (Supervisor Pattern, 5 agents)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  Amazon Bedrock Knowledge Bases (3 KBs, ACTIVE)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  Amazon Titan Text Embeddings V2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  Foundation Models: Claude 3.5 Sonnet / Amazon Nova 2 Lite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188720"/>
            <a:ext cx="5486400" cy="2468880"/>
          </a:xfrm>
          <a:prstGeom prst="roundRect">
            <a:avLst/>
          </a:prstGeom>
          <a:solidFill>
            <a:srgbClr val="14243B"/>
          </a:solidFill>
          <a:ln w="1905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325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933"/>
                </a:solidFill>
                <a:latin typeface="Calibri"/>
              </a:defRPr>
            </a:pPr>
            <a:r>
              <a:t>Document Intelligence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73736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  Amazon Textract (OCR + Form Extraction)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  Scans 12A, 80G, CSR-1 govt certificates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  Extracts registration numbers and expiry dates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  Available natively in ap-south-1 (Mumbai)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931920"/>
            <a:ext cx="5486400" cy="2468880"/>
          </a:xfrm>
          <a:prstGeom prst="roundRect">
            <a:avLst/>
          </a:prstGeom>
          <a:solidFill>
            <a:srgbClr val="14243B"/>
          </a:solidFill>
          <a:ln w="1905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0690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933"/>
                </a:solidFill>
                <a:latin typeface="Calibri"/>
              </a:defRPr>
            </a:pPr>
            <a:r>
              <a:t>Compute &amp; Storage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80559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  AWS Lambda x4 (Python 3.12, 256MB, 90s timeout)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  Amazon S3 x5 buckets (docs, PDFs, 3 KB data sources)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  Amazon OpenSearch Serverless (vector database)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  Amazon API Gateway (REST) + Amazon DynamoDB x4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931920"/>
            <a:ext cx="5486400" cy="2468880"/>
          </a:xfrm>
          <a:prstGeom prst="roundRect">
            <a:avLst/>
          </a:prstGeom>
          <a:solidFill>
            <a:srgbClr val="14243B"/>
          </a:solidFill>
          <a:ln w="1905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40690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933"/>
                </a:solidFill>
                <a:latin typeface="Calibri"/>
              </a:defRPr>
            </a:pPr>
            <a:r>
              <a:t>Frontend &amp; Auth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480559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  Next.js 16 (React 19, Server Components)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  TailwindCSS + custom dark/light theme system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  Amazon Cognito (user authentication &amp; sessions)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  Deployed on Vercel (CDN, Edge Functions)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899AA"/>
                </a:solidFill>
                <a:latin typeface="Calibri"/>
              </a:defRPr>
            </a:pPr>
            <a:r>
              <a:t>AI for Bharat Hackathon 2026  |  Powered by AWS  |  Track 03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9933"/>
                </a:solidFill>
                <a:latin typeface="Calibri"/>
              </a:defRPr>
            </a:pPr>
            <a:r>
              <a:t>Estimated Implementation Cost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4846320"/>
          </a:xfrm>
          <a:prstGeom prst="roundRect">
            <a:avLst/>
          </a:prstGeom>
          <a:solidFill>
            <a:srgbClr val="14243B"/>
          </a:solidFill>
          <a:ln w="1905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933"/>
                </a:solidFill>
                <a:latin typeface="Calibri"/>
              </a:defRPr>
            </a:pPr>
            <a:r>
              <a:t>Unit Economics: NidhiAI vs Traditional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5029200" cy="429768"/>
          </a:xfrm>
          <a:prstGeom prst="rect">
            <a:avLst/>
          </a:prstGeom>
          <a:solidFill>
            <a:srgbClr val="1A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6537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9933"/>
                </a:solidFill>
                <a:latin typeface="Calibri"/>
              </a:defRPr>
            </a:pPr>
            <a:r>
              <a:t>Metric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186537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9933"/>
                </a:solidFill>
                <a:latin typeface="Calibri"/>
              </a:defRPr>
            </a:pPr>
            <a:r>
              <a:t>Traditional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865376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9933"/>
                </a:solidFill>
                <a:latin typeface="Calibri"/>
              </a:defRPr>
            </a:pPr>
            <a:r>
              <a:t>NidhiAI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04288"/>
            <a:ext cx="5029200" cy="429768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34086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Cost per proposal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34086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4444"/>
                </a:solidFill>
                <a:latin typeface="Calibri"/>
              </a:defRPr>
            </a:pPr>
            <a:r>
              <a:t>Rs.50,000+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340864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CC66"/>
                </a:solidFill>
                <a:latin typeface="Calibri"/>
              </a:defRPr>
            </a:pPr>
            <a:r>
              <a:t>&lt; Rs.10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779776"/>
            <a:ext cx="5029200" cy="42976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Time per proposal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28163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4444"/>
                </a:solidFill>
                <a:latin typeface="Calibri"/>
              </a:defRPr>
            </a:pPr>
            <a:r>
              <a:t>2-4 weeks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281635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CC66"/>
                </a:solidFill>
                <a:latin typeface="Calibri"/>
              </a:defRPr>
            </a:pPr>
            <a:r>
              <a:t>&lt; 10 minutes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255264"/>
            <a:ext cx="5029200" cy="429768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918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Grant discovery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3291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4444"/>
                </a:solidFill>
                <a:latin typeface="Calibri"/>
              </a:defRPr>
            </a:pPr>
            <a:r>
              <a:t>Manual 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329184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CC66"/>
                </a:solidFill>
                <a:latin typeface="Calibri"/>
              </a:defRPr>
            </a:pPr>
            <a:r>
              <a:t>AI-matched (5+ corps)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730752"/>
            <a:ext cx="5029200" cy="42976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7673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Compliance check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80" y="376732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4444"/>
                </a:solidFill>
                <a:latin typeface="Calibri"/>
              </a:defRPr>
            </a:pPr>
            <a:r>
              <a:t>CA fees Rs.5,000+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376732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CC66"/>
                </a:solidFill>
                <a:latin typeface="Calibri"/>
              </a:defRPr>
            </a:pPr>
            <a:r>
              <a:t>Automated via Textract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206240"/>
            <a:ext cx="5029200" cy="429768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24281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Scaling to 100 NGOs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4281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4444"/>
                </a:solidFill>
                <a:latin typeface="Calibri"/>
              </a:defRPr>
            </a:pPr>
            <a:r>
              <a:t>50 grant writers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31920" y="4242816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CC66"/>
                </a:solidFill>
                <a:latin typeface="Calibri"/>
              </a:defRPr>
            </a:pPr>
            <a:r>
              <a:t>Same AI system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754880"/>
            <a:ext cx="5029200" cy="822960"/>
          </a:xfrm>
          <a:prstGeom prst="roundRect">
            <a:avLst/>
          </a:prstGeom>
          <a:solidFill>
            <a:srgbClr val="0A2A1A"/>
          </a:solidFill>
          <a:ln w="19050">
            <a:solidFill>
              <a:srgbClr val="00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84632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CC66"/>
                </a:solidFill>
                <a:latin typeface="Calibri"/>
              </a:defRPr>
            </a:pPr>
            <a:r>
              <a:t>5000x cheaper per proposal  |  200x faster delivery</a:t>
            </a:r>
            <a:br/>
            <a:r>
              <a:t>Prototype spend to date: &lt; Rs.8,000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1188720"/>
            <a:ext cx="5303520" cy="4846320"/>
          </a:xfrm>
          <a:prstGeom prst="roundRect">
            <a:avLst/>
          </a:prstGeom>
          <a:solidFill>
            <a:srgbClr val="14243B"/>
          </a:solidFill>
          <a:ln w="19050"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12801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933"/>
                </a:solidFill>
                <a:latin typeface="Calibri"/>
              </a:defRPr>
            </a:pPr>
            <a:r>
              <a:t>Revenue Model (100 NGOs)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0" y="1828800"/>
            <a:ext cx="4846320" cy="411480"/>
          </a:xfrm>
          <a:prstGeom prst="rect">
            <a:avLst/>
          </a:prstGeom>
          <a:solidFill>
            <a:srgbClr val="1A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20840" y="1856231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9933"/>
                </a:solidFill>
                <a:latin typeface="Calibri"/>
              </a:defRPr>
            </a:pPr>
            <a:r>
              <a:t>Free Tier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06840" y="1856231"/>
            <a:ext cx="21808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9933"/>
                </a:solidFill>
                <a:latin typeface="Calibri"/>
              </a:defRPr>
            </a:pPr>
            <a:r>
              <a:t>5 proposals/month (Rs.0)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0" y="2286000"/>
            <a:ext cx="4846320" cy="41148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20840" y="2313432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Premium Plan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06840" y="2313432"/>
            <a:ext cx="21808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Unlimited (Rs.999/NGO/mo)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0" y="2743200"/>
            <a:ext cx="4846320" cy="4114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20840" y="2770632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100 NGOs on Premium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06840" y="2770632"/>
            <a:ext cx="21808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Rs.99,900/month revenue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0" y="3200400"/>
            <a:ext cx="4846320" cy="41148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20840" y="3227832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AWS Infra Cost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06840" y="3227832"/>
            <a:ext cx="21808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~Rs.17,000/month (~$204)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0" y="3657600"/>
            <a:ext cx="4846320" cy="4114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20840" y="3685032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Gross Margin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06840" y="3685032"/>
            <a:ext cx="21808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00CC66"/>
                </a:solidFill>
                <a:latin typeface="Calibri"/>
              </a:defRPr>
            </a:pPr>
            <a:r>
              <a:t>~83%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83680" y="4114800"/>
            <a:ext cx="4846320" cy="41148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720840" y="4142232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Break-even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06840" y="4142232"/>
            <a:ext cx="21808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18 paying NGOs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0" y="4572000"/>
            <a:ext cx="4846320" cy="4114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20840" y="4599432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B2B: CSR Consultants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06840" y="4599432"/>
            <a:ext cx="21808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Rs.9,999/month enterprise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583680" y="5029200"/>
            <a:ext cx="4846320" cy="41148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720840" y="5056632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Target Market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06840" y="5056632"/>
            <a:ext cx="21808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3M+ civil society orgs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720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899AA"/>
                </a:solidFill>
                <a:latin typeface="Calibri"/>
              </a:defRPr>
            </a:pPr>
            <a:r>
              <a:t>AI for Bharat Hackathon 2026  |  Powered by AWS  |  Track 03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9933"/>
                </a:solidFill>
                <a:latin typeface="Calibri"/>
              </a:defRPr>
            </a:pPr>
            <a:r>
              <a:t>Snapshots of the Working Prototype</a:t>
            </a:r>
          </a:p>
        </p:txBody>
      </p:sp>
      <p:pic>
        <p:nvPicPr>
          <p:cNvPr id="4" name="Picture 3" descr="chatbot_final_17729692166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3200400"/>
          </a:xfrm>
          <a:prstGeom prst="rect">
            <a:avLst/>
          </a:prstGeom>
        </p:spPr>
      </p:pic>
      <p:pic>
        <p:nvPicPr>
          <p:cNvPr id="5" name="Picture 4" descr="landing_page_17729688483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76072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438912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899AA"/>
                </a:solidFill>
                <a:latin typeface="Calibri"/>
              </a:defRPr>
            </a:pPr>
            <a:r>
              <a:t>CSR Assistant Chatbot — answers regulatory questions via KB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438912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899AA"/>
                </a:solidFill>
                <a:latin typeface="Calibri"/>
              </a:defRPr>
            </a:pPr>
            <a:r>
              <a:t>Landing Page — Initialize demo, sign in/up</a:t>
            </a:r>
          </a:p>
        </p:txBody>
      </p:sp>
      <p:pic>
        <p:nvPicPr>
          <p:cNvPr id="8" name="Picture 7" descr="upload_page_fixed_17728193116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4937760"/>
            <a:ext cx="3749039" cy="1371600"/>
          </a:xfrm>
          <a:prstGeom prst="rect">
            <a:avLst/>
          </a:prstGeom>
        </p:spPr>
      </p:pic>
      <p:pic>
        <p:nvPicPr>
          <p:cNvPr id="9" name="Picture 8" descr="compliance_177296888256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6240" y="4937760"/>
            <a:ext cx="3749039" cy="13716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899AA"/>
                </a:solidFill>
                <a:latin typeface="Calibri"/>
              </a:defRPr>
            </a:pPr>
            <a:r>
              <a:t>All screenshots from the LIVE running prototype  |  Dark theme, responsive, production-quality UI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9933"/>
                </a:solidFill>
                <a:latin typeface="Calibri"/>
              </a:defRPr>
            </a:pPr>
            <a:r>
              <a:t>Prototype Performance Report / Benchmarking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3657600"/>
          </a:xfrm>
          <a:prstGeom prst="roundRect">
            <a:avLst/>
          </a:prstGeom>
          <a:solidFill>
            <a:srgbClr val="14243B"/>
          </a:solidFill>
          <a:ln w="1905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933"/>
                </a:solidFill>
                <a:latin typeface="Calibri"/>
              </a:defRPr>
            </a:pPr>
            <a:r>
              <a:t>Latency (Live on AWS ap-south-1)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5029200" cy="411480"/>
          </a:xfrm>
          <a:prstGeom prst="rect">
            <a:avLst/>
          </a:prstGeom>
          <a:solidFill>
            <a:srgbClr val="1A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56231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Document Upload to S3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1856231"/>
            <a:ext cx="22631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0D4AA"/>
                </a:solidFill>
                <a:latin typeface="Calibri"/>
              </a:defRPr>
            </a:pPr>
            <a:r>
              <a:t>~1.2 seconds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258568"/>
            <a:ext cx="5029200" cy="41148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285999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Compliance Scan (Textract + Agent)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2285999"/>
            <a:ext cx="22631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00D4AA"/>
                </a:solidFill>
                <a:latin typeface="Calibri"/>
              </a:defRPr>
            </a:pPr>
            <a:r>
              <a:t>4-6 seconds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688336"/>
            <a:ext cx="5029200" cy="4114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715768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Grant Matching (Titan V2 + AOSS)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2715768"/>
            <a:ext cx="22631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00D4AA"/>
                </a:solidFill>
                <a:latin typeface="Calibri"/>
              </a:defRPr>
            </a:pPr>
            <a:r>
              <a:t>1.8 seconds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118104"/>
            <a:ext cx="5029200" cy="41148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145536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Proposal Generation (RAG + Claude)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680" y="3145536"/>
            <a:ext cx="22631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00D4AA"/>
                </a:solidFill>
                <a:latin typeface="Calibri"/>
              </a:defRPr>
            </a:pPr>
            <a:r>
              <a:t>15-20s (streamed)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547872"/>
            <a:ext cx="5029200" cy="4114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575303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KB Chatbot Response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3575303"/>
            <a:ext cx="22631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00D4AA"/>
                </a:solidFill>
                <a:latin typeface="Calibri"/>
              </a:defRPr>
            </a:pPr>
            <a:r>
              <a:t>2-4 seconds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977639"/>
            <a:ext cx="5029200" cy="41148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005072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Lambda Cold Start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54680" y="4005072"/>
            <a:ext cx="22631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00D4AA"/>
                </a:solidFill>
                <a:latin typeface="Calibri"/>
              </a:defRPr>
            </a:pPr>
            <a:r>
              <a:t>&lt; 800ms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1188720"/>
            <a:ext cx="5303520" cy="3657600"/>
          </a:xfrm>
          <a:prstGeom prst="roundRect">
            <a:avLst/>
          </a:prstGeom>
          <a:solidFill>
            <a:srgbClr val="14243B"/>
          </a:solidFill>
          <a:ln w="19050"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13258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933"/>
                </a:solidFill>
                <a:latin typeface="Calibri"/>
              </a:defRPr>
            </a:pPr>
            <a:r>
              <a:t>Infrastructure Status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0" y="1828800"/>
            <a:ext cx="4846320" cy="384048"/>
          </a:xfrm>
          <a:prstGeom prst="rect">
            <a:avLst/>
          </a:prstGeom>
          <a:solidFill>
            <a:srgbClr val="1A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1856231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Bedrock Agents (5/5)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1856231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0CC66"/>
                </a:solidFill>
                <a:latin typeface="Calibri"/>
              </a:defRPr>
            </a:pPr>
            <a:r>
              <a:t>PREPARED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2258568"/>
            <a:ext cx="4846320" cy="384048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0" y="2285999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Knowledge Bases (3/3)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0" y="2285999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0CC66"/>
                </a:solidFill>
                <a:latin typeface="Calibri"/>
              </a:defRPr>
            </a:pPr>
            <a:r>
              <a:t>ACTIVE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0" y="2688336"/>
            <a:ext cx="4846320" cy="38404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75120" y="271576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KB Sync (18 docs)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0" y="271576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0CC66"/>
                </a:solidFill>
                <a:latin typeface="Calibri"/>
              </a:defRPr>
            </a:pPr>
            <a:r>
              <a:t>0 failures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0" y="3118104"/>
            <a:ext cx="4846320" cy="384048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0" y="314553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Lambda Functions (4/4)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3145536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0CC66"/>
                </a:solidFill>
                <a:latin typeface="Calibri"/>
              </a:defRPr>
            </a:pPr>
            <a:r>
              <a:t>Active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0" y="3547872"/>
            <a:ext cx="4846320" cy="38404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75120" y="3575303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System Availability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3575303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0CC66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0" y="3977639"/>
            <a:ext cx="4846320" cy="384048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75120" y="400507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Concurrent Scaling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26880" y="400507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0D4AA"/>
                </a:solidFill>
                <a:latin typeface="Calibri"/>
              </a:defRPr>
            </a:pPr>
            <a:r>
              <a:t>Auto (Lambda)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5120640"/>
            <a:ext cx="11277295" cy="914400"/>
          </a:xfrm>
          <a:prstGeom prst="round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" y="525780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9933"/>
                </a:solidFill>
                <a:latin typeface="Calibri"/>
              </a:defRPr>
            </a:pPr>
            <a:r>
              <a:t>4 Lambda Functions</a:t>
            </a:r>
            <a:br/>
            <a:r>
              <a:t>Python 3.12, 256MB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120" y="525780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9933"/>
                </a:solidFill>
                <a:latin typeface="Calibri"/>
              </a:defRPr>
            </a:pPr>
            <a:r>
              <a:t>5 S3 Buckets</a:t>
            </a:r>
            <a:br/>
            <a:r>
              <a:t>4 DynamoDB Tables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46720" y="525780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9933"/>
                </a:solidFill>
                <a:latin typeface="Calibri"/>
              </a:defRPr>
            </a:pPr>
            <a:r>
              <a:t>3 Knowledge Bases</a:t>
            </a:r>
            <a:br/>
            <a:r>
              <a:t>18 Documents Indexed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899AA"/>
                </a:solidFill>
                <a:latin typeface="Calibri"/>
              </a:defRPr>
            </a:pPr>
            <a:r>
              <a:t>AI for Bharat Hackathon 2026  |  Powered by AWS  |  Track 03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9933"/>
                </a:solidFill>
                <a:latin typeface="Calibri"/>
              </a:defRPr>
            </a:pPr>
            <a:r>
              <a:t>Additional Details / Future Development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4846320"/>
          </a:xfrm>
          <a:prstGeom prst="roundRect">
            <a:avLst/>
          </a:prstGeom>
          <a:solidFill>
            <a:srgbClr val="14243B"/>
          </a:solidFill>
          <a:ln w="1905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933"/>
                </a:solidFill>
                <a:latin typeface="Calibri"/>
              </a:defRPr>
            </a:pPr>
            <a:r>
              <a:t>Near-Term (3-6 months)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  Multilingual voice input via Amazon Transcribe — NGO founders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    narrate in Hindi, AI converts to English corporate proposals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  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  Expand Grant KB from 5 corporations to 50+ (Tata, Infosys,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    HDFC, Reliance, Wipro, Mahindra, Adani, etc.)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  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  Direct submission to corporate CSR portals (API integration)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  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  Automated compliance reminders (12A/80G renewal alerts)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  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  Mobile-first PWA for low-bandwidth rural areas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188720"/>
            <a:ext cx="5303520" cy="4846320"/>
          </a:xfrm>
          <a:prstGeom prst="roundRect">
            <a:avLst/>
          </a:prstGeom>
          <a:solidFill>
            <a:srgbClr val="14243B"/>
          </a:solidFill>
          <a:ln w="19050"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3258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933"/>
                </a:solidFill>
                <a:latin typeface="Calibri"/>
              </a:defRPr>
            </a:pPr>
            <a:r>
              <a:t>Long-Term Vision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82880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  NidhiAI becomes the default operating system for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    NGO administration in India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  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  Government scheme matching (PM-KISAN, MGNREGA)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  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  Amazon Q Business integration for internal CSR portals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  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  WhatsApp bot for zero-tech-literacy users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4206240"/>
            <a:ext cx="4846320" cy="1463040"/>
          </a:xfrm>
          <a:prstGeom prst="roundRect">
            <a:avLst/>
          </a:prstGeom>
          <a:solidFill>
            <a:srgbClr val="0A2A1A"/>
          </a:solidFill>
          <a:ln w="19050">
            <a:solidFill>
              <a:srgbClr val="00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4297680"/>
            <a:ext cx="4572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CC66"/>
                </a:solidFill>
                <a:latin typeface="Calibri"/>
              </a:defRPr>
            </a:pPr>
            <a:r>
              <a:t>If just 10% of Rs.38,000 Cr CSR pool reaches</a:t>
            </a:r>
            <a:br/>
            <a:r>
              <a:t>smaller NGOs through NidhiAI:</a:t>
            </a:r>
            <a:br/>
            <a:br/>
            <a:r>
              <a:t>Rs.3,800 Crores unlocked for communities</a:t>
            </a:r>
            <a:br/>
            <a:r>
              <a:t>that need it most.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899AA"/>
                </a:solidFill>
                <a:latin typeface="Calibri"/>
              </a:defRPr>
            </a:pPr>
            <a:r>
              <a:t>AI for Bharat Hackathon 2026  |  Powered by AWS  |  Track 03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9933"/>
                </a:solidFill>
                <a:latin typeface="Calibri"/>
              </a:defRPr>
            </a:pPr>
            <a:r>
              <a:t>Prototype Assets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1645920"/>
            <a:ext cx="8534095" cy="1371600"/>
          </a:xfrm>
          <a:prstGeom prst="roundRect">
            <a:avLst/>
          </a:prstGeom>
          <a:solidFill>
            <a:srgbClr val="14243B"/>
          </a:solidFill>
          <a:ln w="1905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0" y="1828800"/>
            <a:ext cx="79552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9933"/>
                </a:solidFill>
                <a:latin typeface="Calibri"/>
              </a:defRPr>
            </a:pPr>
            <a:r>
              <a:t>GitHub Public Repository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2331720"/>
            <a:ext cx="79552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D4AA"/>
                </a:solidFill>
                <a:latin typeface="Calibri"/>
              </a:defRPr>
            </a:pPr>
            <a:r>
              <a:t>https://github.com/Sid-V5/NidhiAi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0" y="3291840"/>
            <a:ext cx="8534095" cy="1371600"/>
          </a:xfrm>
          <a:prstGeom prst="roundRect">
            <a:avLst/>
          </a:prstGeom>
          <a:solidFill>
            <a:srgbClr val="14243B"/>
          </a:solidFill>
          <a:ln w="19050"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03120" y="3474720"/>
            <a:ext cx="79552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9933"/>
                </a:solidFill>
                <a:latin typeface="Calibri"/>
              </a:defRPr>
            </a:pPr>
            <a:r>
              <a:t>Demo Video (Max 3 Minutes)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3977639"/>
            <a:ext cx="79552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  <a:latin typeface="Calibri"/>
              </a:defRPr>
            </a:pPr>
            <a:r>
              <a:t>[Insert YouTube / Google Drive Link Here]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0" y="4937760"/>
            <a:ext cx="8534095" cy="1097280"/>
          </a:xfrm>
          <a:prstGeom prst="roundRect">
            <a:avLst/>
          </a:prstGeom>
          <a:solidFill>
            <a:srgbClr val="14243B"/>
          </a:solidFill>
          <a:ln w="19050">
            <a:solidFill>
              <a:srgbClr val="00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0" y="5074920"/>
            <a:ext cx="79552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CC66"/>
                </a:solidFill>
                <a:latin typeface="Calibri"/>
              </a:defRPr>
            </a:pPr>
            <a:r>
              <a:t>Working MVP Link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5486400"/>
            <a:ext cx="79552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  <a:latin typeface="Calibri"/>
              </a:defRPr>
            </a:pPr>
            <a:r>
              <a:t>[Insert Vercel Deployment URL Here]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899AA"/>
                </a:solidFill>
                <a:latin typeface="Calibri"/>
              </a:defRPr>
            </a:pPr>
            <a:r>
              <a:t>AI for Bharat Hackathon 2026  |  Powered by AWS  |  Track 03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9933"/>
                </a:solidFill>
                <a:latin typeface="Calibri"/>
              </a:defRPr>
            </a:pPr>
            <a:r>
              <a:t>NidhiAI (निधिAI)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743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Calibri"/>
              </a:defRPr>
            </a:pPr>
            <a:r>
              <a:t>Let's Fund the Changemakers of Bharat.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3840480"/>
            <a:ext cx="4876495" cy="27432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  <a:latin typeface="Calibri"/>
              </a:defRPr>
            </a:pPr>
            <a:r>
              <a:t>Team: NidhiAI  |  Leader: Siddhant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46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D4AA"/>
                </a:solidFill>
                <a:latin typeface="Calibri"/>
              </a:defRPr>
            </a:pPr>
            <a:r>
              <a:t>Track 03: AI for Communities, Access &amp; Public 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94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899AA"/>
                </a:solidFill>
                <a:latin typeface="Calibri"/>
              </a:defRPr>
            </a:pPr>
            <a:r>
              <a:t>Powered by AWS Bedrock  •  Amazon Textract  •  Amazon OpenSearch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899AA"/>
                </a:solidFill>
                <a:latin typeface="Calibri"/>
              </a:defRPr>
            </a:pPr>
            <a:r>
              <a:t>AI for Bharat Hackathon 2026  |  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