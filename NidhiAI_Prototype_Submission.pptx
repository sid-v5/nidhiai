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9933"/>
                </a:solidFill>
                <a:latin typeface="Calibri"/>
              </a:defRPr>
            </a:pPr>
            <a:r>
              <a:t>NidhiAI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Prototype Development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834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D4AA"/>
                </a:solidFill>
                <a:latin typeface="Calibri"/>
              </a:defRPr>
            </a:pPr>
            <a:r>
              <a:t>AI-Powered CSR Funding Access for Grassroots NGOs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3657600"/>
            <a:ext cx="4876495" cy="2743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Team Name:  NidhiAI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Team Leader:  Siddhant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11480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00D4AA"/>
                </a:solidFill>
                <a:latin typeface="Calibri"/>
              </a:defRPr>
            </a:pPr>
            <a:r>
              <a:t>Problem: The 'Last Mile' CSR Funding Gap</a:t>
            </a:r>
            <a:br/>
            <a:r>
              <a:t>Track 03 — AI for Communities, Access &amp; Public Impact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99AA"/>
                </a:solidFill>
                <a:latin typeface="Calibri"/>
              </a:defRPr>
            </a:pPr>
            <a:r>
              <a:t>Powered by AWS  |  AI for Bharat Hackathon 2026  |  Track 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9933"/>
                </a:solidFill>
                <a:latin typeface="Calibri"/>
              </a:defRPr>
            </a:pPr>
            <a:r>
              <a:t>Brief About the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4444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486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  Section 135 of the Companies Act (2013) mandates qualifying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  companies to spend 2% of avg net profits on CSR activities.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  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  In FY 2024-25, 301 major companies spent Rs.17,742 Cr on CSR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  (CSRBOX ICOR 2025 Report). Total CSR pool: ~Rs.38,000 Cr.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  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  But the vast majority of these funds go to established,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  well-connected NGOs with dedicated compliance teams.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  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  3.7 million+ NGOs are registered on the DARPAN portal.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  Most lack the resources for compliance paperwork (12A, 80G)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  and cannot write formal English grant proposals.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C66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303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  NidhiAI automates the full CSR funding lifecycle for NGOs: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  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  1. Upload documents — AI validates legal compliance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  2. Discover grants — AI matches NGO to corporate CSR funds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  3. Draft proposals — AI writes formal grant applications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  4. Ask questions — chatbot answers CSR regulatory queries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  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  Built on Amazon Bedrock Agents using the Supervisor Pattern.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  4 specialized AI agents orchestrated as a coordinated team.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  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  What takes 30 days manually now takes 10 minutes.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029200"/>
            <a:ext cx="11277295" cy="1097280"/>
          </a:xfrm>
          <a:prstGeom prst="round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1206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9933"/>
                </a:solidFill>
                <a:latin typeface="Calibri"/>
              </a:defRPr>
            </a:pPr>
            <a:r>
              <a:t>Rs.17,742 Cr</a:t>
            </a:r>
            <a:br/>
            <a:r>
              <a:t>CSR Spend FY24-25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51206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9933"/>
                </a:solidFill>
                <a:latin typeface="Calibri"/>
              </a:defRPr>
            </a:pPr>
            <a:r>
              <a:t>3.7 Million+</a:t>
            </a:r>
            <a:br/>
            <a:r>
              <a:t>Registered NGOs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512064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4AA"/>
                </a:solidFill>
                <a:latin typeface="Calibri"/>
              </a:defRPr>
            </a:pPr>
            <a:r>
              <a:t>Schedule VII</a:t>
            </a:r>
            <a:br/>
            <a:r>
              <a:t>7 CSR Categories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144768"/>
            <a:ext cx="1127729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99AA"/>
                </a:solidFill>
                <a:latin typeface="Calibri"/>
              </a:defRPr>
            </a:pPr>
            <a:r>
              <a:t>Sources: CSRBOX ICOR 2025 Report  |  DARPAN Portal  |  Companies Act Section 135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99AA"/>
                </a:solidFill>
                <a:latin typeface="Calibri"/>
              </a:defRPr>
            </a:pPr>
            <a:r>
              <a:t>Powered by AWS  |  AI for Bharat Hackathon 2026  |  Track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9933"/>
                </a:solidFill>
                <a:latin typeface="Calibri"/>
              </a:defRPr>
            </a:pPr>
            <a:r>
              <a:t>Why AI + How AWS Services Are Used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474720" cy="4754880"/>
          </a:xfrm>
          <a:prstGeom prst="roundRect">
            <a:avLst/>
          </a:prstGeom>
          <a:solidFill>
            <a:srgbClr val="14243B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9933"/>
                </a:solidFill>
                <a:latin typeface="Calibri"/>
              </a:defRPr>
            </a:pPr>
            <a:r>
              <a:t>Why AI</a:t>
            </a:r>
            <a:br/>
            <a:r>
              <a:t>is Required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Legal certificates (12A, 80G) are</a:t>
            </a:r>
            <a:br/>
            <a:r>
              <a:t>scanned PDFs with no standard API.</a:t>
            </a:r>
            <a:br/>
            <a:r>
              <a:t>Only OCR + an AI agent can extract</a:t>
            </a:r>
            <a:br/>
            <a:r>
              <a:t>registration numbers and dates.</a:t>
            </a:r>
            <a:br/>
            <a:br/>
            <a:r>
              <a:t>Keyword search can't map 'village</a:t>
            </a:r>
            <a:br/>
            <a:r>
              <a:t>water project' to 'Schedule VII</a:t>
            </a:r>
            <a:br/>
            <a:r>
              <a:t>Rural Infrastructure.' Semantic</a:t>
            </a:r>
            <a:br/>
            <a:r>
              <a:t>vector search is required.</a:t>
            </a:r>
            <a:br/>
            <a:br/>
            <a:r>
              <a:t>NGOs can't afford grant writers.</a:t>
            </a:r>
            <a:br/>
            <a:r>
              <a:t>An LLM generates formal proposals</a:t>
            </a:r>
            <a:br/>
            <a:r>
              <a:t>that match corporate requirements.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188720"/>
            <a:ext cx="3474720" cy="4754880"/>
          </a:xfrm>
          <a:prstGeom prst="roundRect">
            <a:avLst/>
          </a:prstGeom>
          <a:solidFill>
            <a:srgbClr val="14243B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3258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9933"/>
                </a:solidFill>
                <a:latin typeface="Calibri"/>
              </a:defRPr>
            </a:pPr>
            <a:r>
              <a:t>How AWS Services</a:t>
            </a:r>
            <a:br/>
            <a:r>
              <a:t>Are Used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9456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Amazon Bedrock Agents:</a:t>
            </a:r>
            <a:br/>
            <a:r>
              <a:t>Supervisor Pattern orchestrating</a:t>
            </a:r>
            <a:br/>
            <a:r>
              <a:t>4 specialized sub-agents</a:t>
            </a:r>
            <a:br/>
            <a:br/>
            <a:r>
              <a:t>Amazon Textract:</a:t>
            </a:r>
            <a:br/>
            <a:r>
              <a:t>OCR on government certificates</a:t>
            </a:r>
            <a:br/>
            <a:br/>
            <a:r>
              <a:t>Bedrock Knowledge Bases (x3):</a:t>
            </a:r>
            <a:br/>
            <a:r>
              <a:t>CSR laws, corporate CSR filings,</a:t>
            </a:r>
            <a:br/>
            <a:r>
              <a:t>proposal templates — all on</a:t>
            </a:r>
            <a:br/>
            <a:r>
              <a:t>OpenSearch Serverless</a:t>
            </a:r>
            <a:br/>
            <a:br/>
            <a:r>
              <a:t>AWS Lambda (x4):</a:t>
            </a:r>
            <a:br/>
            <a:r>
              <a:t>Serverless compute for each action</a:t>
            </a:r>
            <a:br/>
            <a:br/>
            <a:r>
              <a:t>S3 + DynamoDB:</a:t>
            </a:r>
            <a:br/>
            <a:r>
              <a:t>Document storage and state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188720"/>
            <a:ext cx="3474720" cy="4754880"/>
          </a:xfrm>
          <a:prstGeom prst="roundRect">
            <a:avLst/>
          </a:prstGeom>
          <a:solidFill>
            <a:srgbClr val="14243B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3258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9933"/>
                </a:solidFill>
                <a:latin typeface="Calibri"/>
              </a:defRPr>
            </a:pPr>
            <a:r>
              <a:t>What Value</a:t>
            </a:r>
            <a:br/>
            <a:r>
              <a:t>AI Adds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19456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Without AI:</a:t>
            </a:r>
            <a:br/>
            <a:r>
              <a:t>  Weeks of manual research</a:t>
            </a:r>
            <a:br/>
            <a:r>
              <a:t>  Rs.50,000+ per grant writer</a:t>
            </a:r>
            <a:br/>
            <a:r>
              <a:t>  CA fees for compliance</a:t>
            </a:r>
            <a:br/>
            <a:br/>
            <a:r>
              <a:t>With NidhiAI:</a:t>
            </a:r>
            <a:br/>
            <a:r>
              <a:t>  Grants found in seconds</a:t>
            </a:r>
            <a:br/>
            <a:r>
              <a:t>  Proposals drafted in 15 seconds</a:t>
            </a:r>
            <a:br/>
            <a:r>
              <a:t>  Compliance checked instantly</a:t>
            </a:r>
            <a:br/>
            <a:br/>
            <a:r>
              <a:t>The AI layer converts a 30-day,</a:t>
            </a:r>
            <a:br/>
            <a:r>
              <a:t>Rs.50,000 process into a 10-min,</a:t>
            </a:r>
            <a:br/>
            <a:r>
              <a:t>near-zero-cost automated one.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99AA"/>
                </a:solidFill>
                <a:latin typeface="Calibri"/>
              </a:defRPr>
            </a:pPr>
            <a:r>
              <a:t>Powered by AWS  |  AI for Bharat Hackathon 2026  |  Track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9933"/>
                </a:solidFill>
                <a:latin typeface="Calibri"/>
              </a:defRPr>
            </a:pPr>
            <a:r>
              <a:t>Features of the Prototype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3566160" cy="2377440"/>
          </a:xfrm>
          <a:prstGeom prst="round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73152" cy="2377440"/>
          </a:xfrm>
          <a:prstGeom prst="rect">
            <a:avLst/>
          </a:prstGeom>
          <a:solidFill>
            <a:srgbClr val="4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488FF"/>
                </a:solidFill>
                <a:latin typeface="Calibri"/>
              </a:defRPr>
            </a:pPr>
            <a:r>
              <a:t>Compliance Scanner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Upload 12A, 80G, CSR-1 certificates.</a:t>
            </a:r>
            <a:br/>
            <a:r>
              <a:t>Textract reads them, Bedrock validates.</a:t>
            </a:r>
            <a:br/>
            <a:r>
              <a:t>Instant pass/fail with expiry dates.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188720"/>
            <a:ext cx="3566160" cy="2377440"/>
          </a:xfrm>
          <a:prstGeom prst="round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188720"/>
            <a:ext cx="73152" cy="237744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371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933"/>
                </a:solidFill>
                <a:latin typeface="Calibri"/>
              </a:defRPr>
            </a:pPr>
            <a:r>
              <a:t>AI Grant Discovery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82880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Semantic search across corporate CSR</a:t>
            </a:r>
            <a:br/>
            <a:r>
              <a:t>filings. Returns ranked matches with</a:t>
            </a:r>
            <a:br/>
            <a:r>
              <a:t>relevance scores (e.g., 93%, 88%).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188720"/>
            <a:ext cx="3566160" cy="2377440"/>
          </a:xfrm>
          <a:prstGeom prst="round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1188720"/>
            <a:ext cx="73152" cy="2377440"/>
          </a:xfrm>
          <a:prstGeom prst="rect">
            <a:avLst/>
          </a:prstGeom>
          <a:solidFill>
            <a:srgbClr val="AA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1371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A44FF"/>
                </a:solidFill>
                <a:latin typeface="Calibri"/>
              </a:defRPr>
            </a:pPr>
            <a:r>
              <a:t>Proposal Generator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182880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One-click formal proposal drafting.</a:t>
            </a:r>
            <a:br/>
            <a:r>
              <a:t>Output is livestreamed to screen as</a:t>
            </a:r>
            <a:br/>
            <a:r>
              <a:t>the model writes. PDF export.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931920"/>
            <a:ext cx="3566160" cy="2377440"/>
          </a:xfrm>
          <a:prstGeom prst="round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931920"/>
            <a:ext cx="73152" cy="2377440"/>
          </a:xfrm>
          <a:prstGeom prst="rect">
            <a:avLst/>
          </a:prstGeom>
          <a:solidFill>
            <a:srgbClr val="00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114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C66"/>
                </a:solidFill>
                <a:latin typeface="Calibri"/>
              </a:defRPr>
            </a:pPr>
            <a:r>
              <a:t>Impact Reports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57200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Quarterly reports using user-provided</a:t>
            </a:r>
            <a:br/>
            <a:r>
              <a:t>data (beneficiaries, funds utilized).</a:t>
            </a:r>
            <a:br/>
            <a:r>
              <a:t>AI computes metrics and generates PDF.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3931920"/>
            <a:ext cx="3566160" cy="2377440"/>
          </a:xfrm>
          <a:prstGeom prst="round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7680" y="3931920"/>
            <a:ext cx="73152" cy="23774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4114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AA"/>
                </a:solidFill>
                <a:latin typeface="Calibri"/>
              </a:defRPr>
            </a:pPr>
            <a:r>
              <a:t>CSR Assistant Chatbot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57200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Knowledge Base of Indian CSR laws.</a:t>
            </a:r>
            <a:br/>
            <a:r>
              <a:t>Answers questions about Section 135,</a:t>
            </a:r>
            <a:br/>
            <a:r>
              <a:t>Schedule VII, FCRA, 12A/80G.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931920"/>
            <a:ext cx="3566160" cy="2377440"/>
          </a:xfrm>
          <a:prstGeom prst="round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931920"/>
            <a:ext cx="73152" cy="2377440"/>
          </a:xfrm>
          <a:prstGeom prst="rect">
            <a:avLst/>
          </a:prstGeom>
          <a:solidFill>
            <a:srgbClr val="FF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0" y="4114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6699"/>
                </a:solidFill>
                <a:latin typeface="Calibri"/>
              </a:defRPr>
            </a:pPr>
            <a:r>
              <a:t>Agent Trace Panel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457200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See the multi-agent orchestration</a:t>
            </a:r>
            <a:br/>
            <a:r>
              <a:t>live — which agent was called, what</a:t>
            </a:r>
            <a:br/>
            <a:r>
              <a:t>data was retrieved, what happened.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99AA"/>
                </a:solidFill>
                <a:latin typeface="Calibri"/>
              </a:defRPr>
            </a:pPr>
            <a:r>
              <a:t>Powered by AWS  |  AI for Bharat Hackathon 2026  |  Track 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9933"/>
                </a:solidFill>
                <a:latin typeface="Calibri"/>
              </a:defRPr>
            </a:pPr>
            <a:r>
              <a:t>Process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6567" y="1828800"/>
            <a:ext cx="1828800" cy="1645920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NGO Leader</a:t>
            </a:r>
            <a:br/>
            <a:r>
              <a:t>Uploads Docs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301087" y="2423160"/>
            <a:ext cx="457200" cy="457200"/>
          </a:xfrm>
          <a:prstGeom prst="rightArrow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804007" y="1828800"/>
            <a:ext cx="1828800" cy="1645920"/>
          </a:xfrm>
          <a:prstGeom prst="roundRect">
            <a:avLst/>
          </a:prstGeom>
          <a:solidFill>
            <a:srgbClr val="4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Compliance</a:t>
            </a:r>
            <a:br/>
            <a:r>
              <a:t>Agent Scans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678527" y="2423160"/>
            <a:ext cx="457200" cy="457200"/>
          </a:xfrm>
          <a:prstGeom prst="rightArrow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181447" y="1828800"/>
            <a:ext cx="1828800" cy="1645920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Grant Scout</a:t>
            </a:r>
            <a:br/>
            <a:r>
              <a:t>Finds Matches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055967" y="2423160"/>
            <a:ext cx="457200" cy="457200"/>
          </a:xfrm>
          <a:prstGeom prst="rightArrow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558887" y="1828800"/>
            <a:ext cx="1828800" cy="1645920"/>
          </a:xfrm>
          <a:prstGeom prst="roundRect">
            <a:avLst/>
          </a:prstGeom>
          <a:solidFill>
            <a:srgbClr val="AA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Proposal Agent</a:t>
            </a:r>
            <a:br/>
            <a:r>
              <a:t>Drafts PDF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433407" y="2423160"/>
            <a:ext cx="457200" cy="457200"/>
          </a:xfrm>
          <a:prstGeom prst="rightArrow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936327" y="1828800"/>
            <a:ext cx="1828800" cy="1645920"/>
          </a:xfrm>
          <a:prstGeom prst="roundRect">
            <a:avLst/>
          </a:prstGeom>
          <a:solidFill>
            <a:srgbClr val="00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NGO Gets</a:t>
            </a:r>
            <a:br/>
            <a:r>
              <a:t>Ready Proposal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3931920"/>
            <a:ext cx="6705295" cy="640080"/>
          </a:xfrm>
          <a:prstGeom prst="roundRect">
            <a:avLst/>
          </a:prstGeom>
          <a:solidFill>
            <a:srgbClr val="14243B"/>
          </a:solidFill>
          <a:ln w="1905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9933"/>
                </a:solidFill>
              </a:defRPr>
            </a:pPr>
            <a:r>
              <a:t>All orchestrated by SUPERVISOR AGENT (Bedrock Supervisor Pattern)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846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9933"/>
                </a:solidFill>
                <a:latin typeface="Calibri"/>
              </a:defRPr>
            </a:pPr>
            <a:r>
              <a:t>Step 1-2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1663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Amazon Textract extracts</a:t>
            </a:r>
            <a:br/>
            <a:r>
              <a:t>fields from scanned 12A/80G</a:t>
            </a:r>
            <a:br/>
            <a:r>
              <a:t>certificates. Bedrock agent</a:t>
            </a:r>
            <a:br/>
            <a:r>
              <a:t>validates compliance.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846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9933"/>
                </a:solidFill>
                <a:latin typeface="Calibri"/>
              </a:defRPr>
            </a:pPr>
            <a:r>
              <a:t>Step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51663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Titan Embeddings V2 queries</a:t>
            </a:r>
            <a:br/>
            <a:r>
              <a:t>OpenSearch Serverless KB.</a:t>
            </a:r>
            <a:br/>
            <a:r>
              <a:t>Returns ranked matches</a:t>
            </a:r>
            <a:br/>
            <a:r>
              <a:t>by relevance to NGO profile.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846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9933"/>
                </a:solidFill>
                <a:latin typeface="Calibri"/>
              </a:defRPr>
            </a:pPr>
            <a:r>
              <a:t>Step 4-5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51663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Claude generates a formal</a:t>
            </a:r>
            <a:br/>
            <a:r>
              <a:t>proposal via RAG. Output is</a:t>
            </a:r>
            <a:br/>
            <a:r>
              <a:t>livestreamed to the user.</a:t>
            </a:r>
            <a:br/>
            <a:r>
              <a:t>PDF saved to S3 for download.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99AA"/>
                </a:solidFill>
                <a:latin typeface="Calibri"/>
              </a:defRPr>
            </a:pPr>
            <a:r>
              <a:t>Powered by AWS  |  AI for Bharat Hackathon 2026  |  Track 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9933"/>
                </a:solidFill>
                <a:latin typeface="Calibri"/>
              </a:defRPr>
            </a:pPr>
            <a:r>
              <a:t>Screenshots of the Working Prototype</a:t>
            </a:r>
          </a:p>
        </p:txBody>
      </p:sp>
      <p:pic>
        <p:nvPicPr>
          <p:cNvPr id="4" name="Picture 3" descr="dashboard_17729688717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760720" cy="3474720"/>
          </a:xfrm>
          <a:prstGeom prst="rect">
            <a:avLst/>
          </a:prstGeom>
        </p:spPr>
      </p:pic>
      <p:pic>
        <p:nvPicPr>
          <p:cNvPr id="5" name="Picture 4" descr="grants_177296900567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760720" cy="3474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466344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99AA"/>
                </a:solidFill>
                <a:latin typeface="Calibri"/>
              </a:defRPr>
            </a:pPr>
            <a:r>
              <a:t>Dashboard — compliance status, grants, quick 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66344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99AA"/>
                </a:solidFill>
                <a:latin typeface="Calibri"/>
              </a:defRPr>
            </a:pPr>
            <a:r>
              <a:t>Grant Discovery — AI-matched CSR opportunities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99AA"/>
                </a:solidFill>
                <a:latin typeface="Calibri"/>
              </a:defRPr>
            </a:pPr>
            <a:r>
              <a:t>All screenshots from the live running prototype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9933"/>
                </a:solidFill>
                <a:latin typeface="Calibri"/>
              </a:defRPr>
            </a:pPr>
            <a:r>
              <a:t>Architecture Diagram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2286000" cy="822960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NGO User</a:t>
            </a:r>
            <a:br/>
            <a:r>
              <a:t>(Next.js Dashboard)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280160"/>
            <a:ext cx="2286000" cy="822960"/>
          </a:xfrm>
          <a:prstGeom prst="roundRect">
            <a:avLst/>
          </a:prstGeom>
          <a:solidFill>
            <a:srgbClr val="44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API Gateway</a:t>
            </a:r>
            <a:br/>
            <a:r>
              <a:t>+ Cognito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2560320"/>
            <a:ext cx="5486400" cy="822960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Amazon Bedrock Supervisor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3840480"/>
            <a:ext cx="2560320" cy="822960"/>
          </a:xfrm>
          <a:prstGeom prst="roundRect">
            <a:avLst/>
          </a:prstGeom>
          <a:solidFill>
            <a:srgbClr val="4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Compliance</a:t>
            </a:r>
            <a:br/>
            <a:r>
              <a:t>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3840480"/>
            <a:ext cx="2560320" cy="822960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Grant Scout</a:t>
            </a:r>
            <a:br/>
            <a:r>
              <a:t>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840480"/>
            <a:ext cx="2560320" cy="822960"/>
          </a:xfrm>
          <a:prstGeom prst="roundRect">
            <a:avLst/>
          </a:prstGeom>
          <a:solidFill>
            <a:srgbClr val="AA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Proposal</a:t>
            </a:r>
            <a:br/>
            <a:r>
              <a:t>Agent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3840480"/>
            <a:ext cx="2560320" cy="822960"/>
          </a:xfrm>
          <a:prstGeom prst="roundRect">
            <a:avLst/>
          </a:prstGeom>
          <a:solidFill>
            <a:srgbClr val="00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Impact</a:t>
            </a:r>
            <a:br/>
            <a:r>
              <a:t>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280160"/>
            <a:ext cx="2926080" cy="640080"/>
          </a:xfrm>
          <a:prstGeom prst="roundRect">
            <a:avLst/>
          </a:prstGeom>
          <a:solidFill>
            <a:srgbClr val="22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Amazon Textract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2057400"/>
            <a:ext cx="2926080" cy="640080"/>
          </a:xfrm>
          <a:prstGeom prst="roundRect">
            <a:avLst/>
          </a:prstGeom>
          <a:solidFill>
            <a:srgbClr val="22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KB: CSR Laws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2834639"/>
            <a:ext cx="2926080" cy="640080"/>
          </a:xfrm>
          <a:prstGeom prst="roundRect">
            <a:avLst/>
          </a:prstGeom>
          <a:solidFill>
            <a:srgbClr val="22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KB: CSR Opportunities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3611879"/>
            <a:ext cx="2926080" cy="640080"/>
          </a:xfrm>
          <a:prstGeom prst="roundRect">
            <a:avLst/>
          </a:prstGeom>
          <a:solidFill>
            <a:srgbClr val="22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KB: Proposals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5120640"/>
            <a:ext cx="2560320" cy="502920"/>
          </a:xfrm>
          <a:prstGeom prst="roundRect">
            <a:avLst/>
          </a:prstGeom>
          <a:solidFill>
            <a:srgbClr val="22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Lambda x4 (Python)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0" y="5120640"/>
            <a:ext cx="2560320" cy="502920"/>
          </a:xfrm>
          <a:prstGeom prst="roundRect">
            <a:avLst/>
          </a:prstGeom>
          <a:solidFill>
            <a:srgbClr val="22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Amazon S3 (5 buckets)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5120640"/>
            <a:ext cx="2560320" cy="502920"/>
          </a:xfrm>
          <a:prstGeom prst="roundRect">
            <a:avLst/>
          </a:prstGeom>
          <a:solidFill>
            <a:srgbClr val="22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DynamoDB (4 tables)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5120640"/>
            <a:ext cx="2560320" cy="502920"/>
          </a:xfrm>
          <a:prstGeom prst="roundRect">
            <a:avLst/>
          </a:prstGeom>
          <a:solidFill>
            <a:srgbClr val="22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OpenSearch Serverless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852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99AA"/>
                </a:solidFill>
                <a:latin typeface="Calibri"/>
              </a:defRPr>
            </a:pPr>
            <a:r>
              <a:t>Region: ap-south-1 (Mumbai)  |  100% Serverless  |  12 AWS Services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99AA"/>
                </a:solidFill>
                <a:latin typeface="Calibri"/>
              </a:defRPr>
            </a:pPr>
            <a:r>
              <a:t>Powered by AWS  |  AI for Bharat Hackathon 2026  |  Track 03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9933"/>
                </a:solidFill>
                <a:latin typeface="Calibri"/>
              </a:defRPr>
            </a:pPr>
            <a:r>
              <a:t>Technologies Utilized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2468880"/>
          </a:xfrm>
          <a:prstGeom prst="roundRect">
            <a:avLst/>
          </a:prstGeom>
          <a:solidFill>
            <a:srgbClr val="14243B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933"/>
                </a:solidFill>
                <a:latin typeface="Calibri"/>
              </a:defRPr>
            </a:pPr>
            <a:r>
              <a:t>AI &amp; 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Amazon Bedrock Agents (Supervisor Pattern)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Amazon Bedrock Knowledge Bases (x3)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Amazon Titan Text Embeddings V2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Foundation Models: Claude 3.5 Sonnet, Amazon Nova Lite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188720"/>
            <a:ext cx="5486400" cy="2468880"/>
          </a:xfrm>
          <a:prstGeom prst="roundRect">
            <a:avLst/>
          </a:prstGeom>
          <a:solidFill>
            <a:srgbClr val="14243B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325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933"/>
                </a:solidFill>
                <a:latin typeface="Calibri"/>
              </a:defRPr>
            </a:pPr>
            <a:r>
              <a:t>Document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73736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Amazon Textract (OCR + form extraction)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Reads 12A, 80G, CSR-1 govt certificates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Extracts registration numbers and expiry dates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931920"/>
            <a:ext cx="5486400" cy="2468880"/>
          </a:xfrm>
          <a:prstGeom prst="roundRect">
            <a:avLst/>
          </a:prstGeom>
          <a:solidFill>
            <a:srgbClr val="14243B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069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933"/>
                </a:solidFill>
                <a:latin typeface="Calibri"/>
              </a:defRPr>
            </a:pPr>
            <a:r>
              <a:t>Compute &amp; Storage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80559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AWS Lambda — 4 functions (Python 3.12)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Amazon S3 — 5 buckets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Amazon OpenSearch Serverless (vector DB)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Amazon API Gateway + Amazon DynamoDB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931920"/>
            <a:ext cx="5486400" cy="2468880"/>
          </a:xfrm>
          <a:prstGeom prst="roundRect">
            <a:avLst/>
          </a:prstGeom>
          <a:solidFill>
            <a:srgbClr val="14243B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4069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933"/>
                </a:solidFill>
                <a:latin typeface="Calibri"/>
              </a:defRPr>
            </a:pPr>
            <a:r>
              <a:t>Frontend &amp; Auth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480559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Next.js 16 (React 19) + TailwindCSS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Amazon Cognito (user authentication)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Deployed on Vercel (CDN + Edge)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99AA"/>
                </a:solidFill>
                <a:latin typeface="Calibri"/>
              </a:defRPr>
            </a:pPr>
            <a:r>
              <a:t>Powered by AWS  |  AI for Bharat Hackathon 2026  |  Track 03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9933"/>
                </a:solidFill>
                <a:latin typeface="Calibri"/>
              </a:defRPr>
            </a:pPr>
            <a:r>
              <a:t>Estimated Implementation Cost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4846320"/>
          </a:xfrm>
          <a:prstGeom prst="roundRect">
            <a:avLst/>
          </a:prstGeom>
          <a:solidFill>
            <a:srgbClr val="14243B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933"/>
                </a:solidFill>
                <a:latin typeface="Calibri"/>
              </a:defRPr>
            </a:pPr>
            <a:r>
              <a:t>Unit Economics: NidhiAI vs Traditional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5029200" cy="429768"/>
          </a:xfrm>
          <a:prstGeom prst="rect">
            <a:avLst/>
          </a:prstGeom>
          <a:solidFill>
            <a:srgbClr val="1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6537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933"/>
                </a:solidFill>
                <a:latin typeface="Calibri"/>
              </a:defRPr>
            </a:pPr>
            <a:r>
              <a:t>Metric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86537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9933"/>
                </a:solidFill>
                <a:latin typeface="Calibri"/>
              </a:defRPr>
            </a:pPr>
            <a:r>
              <a:t>Traditional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865376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9933"/>
                </a:solidFill>
                <a:latin typeface="Calibri"/>
              </a:defRPr>
            </a:pPr>
            <a:r>
              <a:t>NidhiAI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304288"/>
            <a:ext cx="5029200" cy="429768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34086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Cost per proposal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34086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4444"/>
                </a:solidFill>
                <a:latin typeface="Calibri"/>
              </a:defRPr>
            </a:pPr>
            <a:r>
              <a:t>Rs.50,000+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340864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CC66"/>
                </a:solidFill>
                <a:latin typeface="Calibri"/>
              </a:defRPr>
            </a:pPr>
            <a:r>
              <a:t>&lt; Rs.10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779776"/>
            <a:ext cx="5029200" cy="4297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81635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Time per proposal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28163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4444"/>
                </a:solidFill>
                <a:latin typeface="Calibri"/>
              </a:defRPr>
            </a:pPr>
            <a:r>
              <a:t>2-4 weeks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281635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CC66"/>
                </a:solidFill>
                <a:latin typeface="Calibri"/>
              </a:defRPr>
            </a:pPr>
            <a:r>
              <a:t>&lt; 10 minutes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255264"/>
            <a:ext cx="5029200" cy="429768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2918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Grant discovery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3291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4444"/>
                </a:solidFill>
                <a:latin typeface="Calibri"/>
              </a:defRPr>
            </a:pPr>
            <a:r>
              <a:t>Manual 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32918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CC66"/>
                </a:solidFill>
                <a:latin typeface="Calibri"/>
              </a:defRPr>
            </a:pPr>
            <a:r>
              <a:t>AI-matched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730752"/>
            <a:ext cx="5029200" cy="4297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76732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Compliance check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37673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4444"/>
                </a:solidFill>
                <a:latin typeface="Calibri"/>
              </a:defRPr>
            </a:pPr>
            <a:r>
              <a:t>CA fees Rs.5,000+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376732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CC66"/>
                </a:solidFill>
                <a:latin typeface="Calibri"/>
              </a:defRPr>
            </a:pPr>
            <a:r>
              <a:t>Automated (Textract)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206240"/>
            <a:ext cx="5029200" cy="429768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24281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Scaling to 100 NGOs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0" y="424281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4444"/>
                </a:solidFill>
                <a:latin typeface="Calibri"/>
              </a:defRPr>
            </a:pPr>
            <a:r>
              <a:t>50 grant writers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0" y="4242816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CC66"/>
                </a:solidFill>
                <a:latin typeface="Calibri"/>
              </a:defRPr>
            </a:pPr>
            <a:r>
              <a:t>Same AI system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754880"/>
            <a:ext cx="5029200" cy="822960"/>
          </a:xfrm>
          <a:prstGeom prst="roundRect">
            <a:avLst/>
          </a:prstGeom>
          <a:solidFill>
            <a:srgbClr val="0A2A1A"/>
          </a:solidFill>
          <a:ln w="19050">
            <a:solidFill>
              <a:srgbClr val="00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84632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CC66"/>
                </a:solidFill>
                <a:latin typeface="Calibri"/>
              </a:defRPr>
            </a:pPr>
            <a:r>
              <a:t>5000x cost reduction per proposal</a:t>
            </a:r>
            <a:br/>
            <a:r>
              <a:t>Serverless = zero cost when idle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1188720"/>
            <a:ext cx="5303520" cy="4846320"/>
          </a:xfrm>
          <a:prstGeom prst="roundRect">
            <a:avLst/>
          </a:prstGeom>
          <a:solidFill>
            <a:srgbClr val="14243B"/>
          </a:solidFill>
          <a:ln w="1905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12801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933"/>
                </a:solidFill>
                <a:latin typeface="Calibri"/>
              </a:defRPr>
            </a:pPr>
            <a:r>
              <a:t>Prototype Spend Breakdown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0" y="1828800"/>
            <a:ext cx="4846320" cy="411480"/>
          </a:xfrm>
          <a:prstGeom prst="rect">
            <a:avLst/>
          </a:prstGeom>
          <a:solidFill>
            <a:srgbClr val="1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20840" y="1856231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933"/>
                </a:solidFill>
                <a:latin typeface="Calibri"/>
              </a:defRPr>
            </a:pPr>
            <a:r>
              <a:t>Service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06840" y="1856231"/>
            <a:ext cx="21808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9933"/>
                </a:solidFill>
                <a:latin typeface="Calibri"/>
              </a:defRPr>
            </a:pPr>
            <a:r>
              <a:t>Monthly Cost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0" y="2286000"/>
            <a:ext cx="4846320" cy="41148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20840" y="231343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Lambda / API Gateway / DynamoDB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06840" y="2313432"/>
            <a:ext cx="21808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00CC66"/>
                </a:solidFill>
                <a:latin typeface="Calibri"/>
              </a:defRPr>
            </a:pPr>
            <a:r>
              <a:t>AWS Free Tier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0" y="2743200"/>
            <a:ext cx="4846320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20840" y="277063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Bedrock model inference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06840" y="2770632"/>
            <a:ext cx="21808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~Rs.800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0" y="3200400"/>
            <a:ext cx="4846320" cy="41148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20840" y="322783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S3 storage (all buckets)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06840" y="3227832"/>
            <a:ext cx="21808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&lt; Rs.50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0" y="3657600"/>
            <a:ext cx="4846320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20840" y="368503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OpenSearch Serverless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06840" y="3685032"/>
            <a:ext cx="21808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Min-capacity provisions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83680" y="4114800"/>
            <a:ext cx="4846320" cy="41148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720840" y="414223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Total prototype spend to date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06840" y="4142232"/>
            <a:ext cx="21808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&lt; Rs.8,000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83680" y="5029200"/>
            <a:ext cx="4846320" cy="41148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720840" y="505663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Production (100 NGOs)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06840" y="5056632"/>
            <a:ext cx="21808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~Rs.17,000/month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99AA"/>
                </a:solidFill>
                <a:latin typeface="Calibri"/>
              </a:defRPr>
            </a:pPr>
            <a:r>
              <a:t>Powered by AWS  |  AI for Bharat Hackathon 2026  |  Track 03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9933"/>
                </a:solidFill>
                <a:latin typeface="Calibri"/>
              </a:defRPr>
            </a:pPr>
            <a:r>
              <a:t>More Prototype Screenshots</a:t>
            </a:r>
          </a:p>
        </p:txBody>
      </p:sp>
      <p:pic>
        <p:nvPicPr>
          <p:cNvPr id="4" name="Picture 3" descr="chatbot_final_17729692166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760720" cy="3200400"/>
          </a:xfrm>
          <a:prstGeom prst="rect">
            <a:avLst/>
          </a:prstGeom>
        </p:spPr>
      </p:pic>
      <p:pic>
        <p:nvPicPr>
          <p:cNvPr id="5" name="Picture 4" descr="proposals_17729690300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76072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438912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99AA"/>
                </a:solidFill>
                <a:latin typeface="Calibri"/>
              </a:defRPr>
            </a:pPr>
            <a:r>
              <a:t>CSR Assistant Chatbot — answers regulatory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38912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99AA"/>
                </a:solidFill>
                <a:latin typeface="Calibri"/>
              </a:defRPr>
            </a:pPr>
            <a:r>
              <a:t>Proposal Generator — livestreamed AI output</a:t>
            </a:r>
          </a:p>
        </p:txBody>
      </p:sp>
      <p:pic>
        <p:nvPicPr>
          <p:cNvPr id="8" name="Picture 7" descr="compliance_177296888256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4846320"/>
            <a:ext cx="5760720" cy="1280160"/>
          </a:xfrm>
          <a:prstGeom prst="rect">
            <a:avLst/>
          </a:prstGeom>
        </p:spPr>
      </p:pic>
      <p:pic>
        <p:nvPicPr>
          <p:cNvPr id="9" name="Picture 8" descr="upload_page_fixed_17728193116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4846320"/>
            <a:ext cx="5760720" cy="12801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99AA"/>
                </a:solidFill>
                <a:latin typeface="Calibri"/>
              </a:defRPr>
            </a:pPr>
            <a:r>
              <a:t>Live prototype — all features fully functional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9933"/>
                </a:solidFill>
                <a:latin typeface="Calibri"/>
              </a:defRPr>
            </a:pPr>
            <a:r>
              <a:t>Prototype Performance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3200400"/>
          </a:xfrm>
          <a:prstGeom prst="roundRect">
            <a:avLst/>
          </a:prstGeom>
          <a:solidFill>
            <a:srgbClr val="14243B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933"/>
                </a:solidFill>
                <a:latin typeface="Calibri"/>
              </a:defRPr>
            </a:pPr>
            <a:r>
              <a:t>Response Latency (ap-south-1)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5029200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56231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Document upload to S3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1856231"/>
            <a:ext cx="22631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00D4AA"/>
                </a:solidFill>
                <a:latin typeface="Calibri"/>
              </a:defRPr>
            </a:pPr>
            <a:r>
              <a:t>~1.2 seconds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258568"/>
            <a:ext cx="5029200" cy="41148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85999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Compliance scan (Textract + Agent)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2285999"/>
            <a:ext cx="22631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00D4AA"/>
                </a:solidFill>
                <a:latin typeface="Calibri"/>
              </a:defRPr>
            </a:pPr>
            <a:r>
              <a:t>4-6 seconds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688336"/>
            <a:ext cx="5029200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715768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Grant matching (semantic search)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2715768"/>
            <a:ext cx="22631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00D4AA"/>
                </a:solidFill>
                <a:latin typeface="Calibri"/>
              </a:defRPr>
            </a:pPr>
            <a:r>
              <a:t>1.8 seconds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118104"/>
            <a:ext cx="5029200" cy="41148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145536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Proposal generation (RAG + streaming)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3145536"/>
            <a:ext cx="22631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00D4AA"/>
                </a:solidFill>
                <a:latin typeface="Calibri"/>
              </a:defRPr>
            </a:pPr>
            <a:r>
              <a:t>15-20 seconds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547872"/>
            <a:ext cx="5029200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575303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CSR chatbot response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80" y="3575303"/>
            <a:ext cx="22631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00D4AA"/>
                </a:solidFill>
                <a:latin typeface="Calibri"/>
              </a:defRPr>
            </a:pPr>
            <a:r>
              <a:t>2-4 seconds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188720"/>
            <a:ext cx="5303520" cy="3200400"/>
          </a:xfrm>
          <a:prstGeom prst="roundRect">
            <a:avLst/>
          </a:prstGeom>
          <a:solidFill>
            <a:srgbClr val="14243B"/>
          </a:solidFill>
          <a:ln w="1905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13258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933"/>
                </a:solidFill>
                <a:latin typeface="Calibri"/>
              </a:defRPr>
            </a:pPr>
            <a:r>
              <a:t>How Streaming Works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182880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Proposal and report generation use server-side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streaming — the output appears on screen as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the model writes, so the user sees results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immediately rather than waiting 15-20 seconds.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The Agent Trace panel shows the Supervisor's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decision-making live: which sub-agent was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called, what Knowledge Base was queried,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and what data was returned.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754880"/>
            <a:ext cx="11277295" cy="1188720"/>
          </a:xfrm>
          <a:prstGeom prst="round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89204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9933"/>
                </a:solidFill>
                <a:latin typeface="Calibri"/>
              </a:defRPr>
            </a:pPr>
            <a:r>
              <a:t>100% Serverless</a:t>
            </a:r>
            <a:br/>
            <a:r>
              <a:t>Auto-scales with demand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489204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9933"/>
                </a:solidFill>
                <a:latin typeface="Calibri"/>
              </a:defRPr>
            </a:pPr>
            <a:r>
              <a:t>12 AWS Services</a:t>
            </a:r>
            <a:br/>
            <a:r>
              <a:t>All managed, no self-hosting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489204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9933"/>
                </a:solidFill>
                <a:latin typeface="Calibri"/>
              </a:defRPr>
            </a:pPr>
            <a:r>
              <a:t>Real-time Streaming</a:t>
            </a:r>
            <a:br/>
            <a:r>
              <a:t>Live AI output to browser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99AA"/>
                </a:solidFill>
                <a:latin typeface="Calibri"/>
              </a:defRPr>
            </a:pPr>
            <a:r>
              <a:t>Powered by AWS  |  AI for Bharat Hackathon 2026  |  Track 03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9933"/>
                </a:solidFill>
                <a:latin typeface="Calibri"/>
              </a:defRPr>
            </a:pPr>
            <a:r>
              <a:t>Future Development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4846320"/>
          </a:xfrm>
          <a:prstGeom prst="roundRect">
            <a:avLst/>
          </a:prstGeom>
          <a:solidFill>
            <a:srgbClr val="14243B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933"/>
                </a:solidFill>
                <a:latin typeface="Calibri"/>
              </a:defRPr>
            </a:pPr>
            <a:r>
              <a:t>Near-Term (3-6 months)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Multilingual voice input via Amazon Transcribe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— NGO founders narrate in Hindi, AI converts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to formal English proposals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Expand Grant Knowledge Base from 5 to 50+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corporate CSR programs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Automated 12A/80G renewal reminders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Mobile-first PWA for low-bandwidth rural areas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188720"/>
            <a:ext cx="5303520" cy="2743200"/>
          </a:xfrm>
          <a:prstGeom prst="roundRect">
            <a:avLst/>
          </a:prstGeom>
          <a:solidFill>
            <a:srgbClr val="14243B"/>
          </a:solidFill>
          <a:ln w="1905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3258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933"/>
                </a:solidFill>
                <a:latin typeface="Calibri"/>
              </a:defRPr>
            </a:pPr>
            <a:r>
              <a:t>Long-Term 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82880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Direct submission to corporate CSR portals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Government scheme matching (PM-KISAN, MGNREGA)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WhatsApp bot for zero-tech-literacy users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NidhiAI as the default admin platform for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NGOs in India — compliance, funding, reporting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4206240"/>
            <a:ext cx="4846320" cy="1463040"/>
          </a:xfrm>
          <a:prstGeom prst="roundRect">
            <a:avLst/>
          </a:prstGeom>
          <a:solidFill>
            <a:srgbClr val="0A2A1A"/>
          </a:solidFill>
          <a:ln w="19050">
            <a:solidFill>
              <a:srgbClr val="00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429768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CC66"/>
                </a:solidFill>
                <a:latin typeface="Calibri"/>
              </a:defRPr>
            </a:pPr>
            <a:r>
              <a:t>If even 1% of the Rs.17,742 Cr CSR pool</a:t>
            </a:r>
            <a:br/>
            <a:r>
              <a:t>reaches underserved NGOs through NidhiAI:</a:t>
            </a:r>
            <a:br/>
            <a:br/>
            <a:r>
              <a:t>Rs.177 Crores redirected to communities</a:t>
            </a:r>
            <a:br/>
            <a:r>
              <a:t>that actually need 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99AA"/>
                </a:solidFill>
                <a:latin typeface="Calibri"/>
              </a:defRPr>
            </a:pPr>
            <a:r>
              <a:t>Powered by AWS  |  AI for Bharat Hackathon 2026  |  Track 03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9933"/>
                </a:solidFill>
                <a:latin typeface="Calibri"/>
              </a:defRPr>
            </a:pPr>
            <a:r>
              <a:t>Prototype Assets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1645920"/>
            <a:ext cx="8534095" cy="1371600"/>
          </a:xfrm>
          <a:prstGeom prst="roundRect">
            <a:avLst/>
          </a:prstGeom>
          <a:solidFill>
            <a:srgbClr val="14243B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0" y="1828800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9933"/>
                </a:solidFill>
                <a:latin typeface="Calibri"/>
              </a:defRPr>
            </a:pPr>
            <a:r>
              <a:t>GitHub Public Repository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2331720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D4AA"/>
                </a:solidFill>
                <a:latin typeface="Calibri"/>
              </a:defRPr>
            </a:pPr>
            <a:r>
              <a:t>https://github.com/Sid-V5/NidhiAi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3291840"/>
            <a:ext cx="8534095" cy="1371600"/>
          </a:xfrm>
          <a:prstGeom prst="roundRect">
            <a:avLst/>
          </a:prstGeom>
          <a:solidFill>
            <a:srgbClr val="14243B"/>
          </a:solidFill>
          <a:ln w="1905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0" y="3474720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9933"/>
                </a:solidFill>
                <a:latin typeface="Calibri"/>
              </a:defRPr>
            </a:pPr>
            <a:r>
              <a:t>Demo Video (Max 3 Minutes)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3977639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[Insert YouTube / Drive Link]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4937760"/>
            <a:ext cx="8534095" cy="1097280"/>
          </a:xfrm>
          <a:prstGeom prst="roundRect">
            <a:avLst/>
          </a:prstGeom>
          <a:solidFill>
            <a:srgbClr val="14243B"/>
          </a:solidFill>
          <a:ln w="19050">
            <a:solidFill>
              <a:srgbClr val="00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0" y="5074920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CC66"/>
                </a:solidFill>
                <a:latin typeface="Calibri"/>
              </a:defRPr>
            </a:pPr>
            <a:r>
              <a:t>Working MVP Link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5486400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[Insert Vercel URL]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99AA"/>
                </a:solidFill>
                <a:latin typeface="Calibri"/>
              </a:defRPr>
            </a:pPr>
            <a:r>
              <a:t>Powered by AWS  |  AI for Bharat Hackathon 2026  |  Track 03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9933"/>
                </a:solidFill>
                <a:latin typeface="Calibri"/>
              </a:defRPr>
            </a:pPr>
            <a:r>
              <a:t>NidhiAI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Let's Fund the Changemakers of Bharat.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840480"/>
            <a:ext cx="4876495" cy="2743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Calibri"/>
              </a:defRPr>
            </a:pPr>
            <a:r>
              <a:t>Team NidhiAI  |  Leader: Siddhant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D4AA"/>
                </a:solidFill>
                <a:latin typeface="Calibri"/>
              </a:defRPr>
            </a:pPr>
            <a:r>
              <a:t>Track 03: AI for Communities, Access &amp; Public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94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99AA"/>
                </a:solidFill>
                <a:latin typeface="Calibri"/>
              </a:defRPr>
            </a:pPr>
            <a:r>
              <a:t>Amazon Bedrock  •  Amazon Textract  •  Amazon OpenSearch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99AA"/>
                </a:solidFill>
                <a:latin typeface="Calibri"/>
              </a:defRPr>
            </a:pPr>
            <a:r>
              <a:t>AI for Bharat Hackathon 2026  | 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